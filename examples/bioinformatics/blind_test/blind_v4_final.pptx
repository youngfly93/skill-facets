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_v4_workspace/bg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ppt_v4_workspace/pattern_diamo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/tmp/ppt_v4_workspace/circl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0"/>
            <a:ext cx="1905000" cy="1905000"/>
          </a:xfrm>
          <a:prstGeom prst="rect">
            <a:avLst/>
          </a:prstGeom>
        </p:spPr>
      </p:pic>
      <p:pic>
        <p:nvPicPr>
          <p:cNvPr id="5" name="Image 3" descr="/tmp/ppt_v4_workspace/circ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19500"/>
            <a:ext cx="1524000" cy="1524000"/>
          </a:xfrm>
          <a:prstGeom prst="rect">
            <a:avLst/>
          </a:prstGeom>
        </p:spPr>
      </p:pic>
      <p:pic>
        <p:nvPicPr>
          <p:cNvPr id="6" name="Image 4" descr="/tmp/ppt_v4_workspace/tri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99" y="3873698"/>
            <a:ext cx="1015901" cy="1015901"/>
          </a:xfrm>
          <a:prstGeom prst="rect">
            <a:avLst/>
          </a:prstGeom>
        </p:spPr>
      </p:pic>
      <p:pic>
        <p:nvPicPr>
          <p:cNvPr id="7" name="Image 5" descr="/tmp/ppt_v4_workspace/accent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950" y="1968401"/>
            <a:ext cx="1015901" cy="63401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88950" y="1827312"/>
            <a:ext cx="751342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Agent Skill 的下一代指导范式</a:t>
            </a:r>
            <a:endParaRPr lang="en-US" sz="3400" dirty="0"/>
          </a:p>
        </p:txBody>
      </p:sp>
      <p:sp>
        <p:nvSpPr>
          <p:cNvPr id="9" name="Text 1"/>
          <p:cNvSpPr/>
          <p:nvPr/>
        </p:nvSpPr>
        <p:spPr>
          <a:xfrm>
            <a:off x="888950" y="2646313"/>
            <a:ext cx="751342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buNone/>
            </a:pPr>
            <a:r>
              <a:rPr lang="en-US" sz="1800" dirty="0">
                <a:solidFill>
                  <a:srgbClr val="00B4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从 Markdown 渐进式披露到三信号架构</a:t>
            </a:r>
            <a:endParaRPr lang="en-US" sz="1800" dirty="0"/>
          </a:p>
        </p:txBody>
      </p:sp>
      <p:sp>
        <p:nvSpPr>
          <p:cNvPr id="10" name="Text 2"/>
          <p:cNvSpPr/>
          <p:nvPr/>
        </p:nvSpPr>
        <p:spPr>
          <a:xfrm>
            <a:off x="888950" y="3468588"/>
            <a:ext cx="75134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0"/>
              </a:spcBef>
              <a:buNone/>
            </a:pPr>
            <a:r>
              <a:rPr lang="en-US" sz="1300" dirty="0">
                <a:solidFill>
                  <a:srgbClr val="FFFFFF">
                    <a:alpha val="5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2026年4月</a:t>
            </a:r>
            <a:endParaRPr lang="en-US" sz="1300" dirty="0"/>
          </a:p>
        </p:txBody>
      </p:sp>
      <p:pic>
        <p:nvPicPr>
          <p:cNvPr id="11" name="Image 6" descr="/tmp/ppt_v4_workspace/accent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092750"/>
            <a:ext cx="9144000" cy="50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_v4_workspace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0" y="762000"/>
            <a:ext cx="9144000" cy="5075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07950" y="152400"/>
            <a:ext cx="113990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问题背景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7950" y="482501"/>
            <a:ext cx="17589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Current Skill System Architecture</a:t>
            </a:r>
            <a:endParaRPr lang="en-US" sz="1000" dirty="0"/>
          </a:p>
        </p:txBody>
      </p:sp>
      <p:pic>
        <p:nvPicPr>
          <p:cNvPr id="7" name="Image 1" descr="/tmp/ppt_v4_workspace/circle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99" y="4127599"/>
            <a:ext cx="1015901" cy="10159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7950" y="990600"/>
            <a:ext cx="8128099" cy="1028402"/>
          </a:xfrm>
          <a:prstGeom prst="roundRect">
            <a:avLst>
              <a:gd name="adj" fmla="val 98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536525" y="990600"/>
            <a:ext cx="0" cy="1028402"/>
          </a:xfrm>
          <a:prstGeom prst="line">
            <a:avLst/>
          </a:prstGeom>
          <a:noFill/>
          <a:ln w="57150">
            <a:solidFill>
              <a:srgbClr val="00B4D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93700" y="1168301"/>
            <a:ext cx="77660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B2A4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当前体系：</a:t>
            </a:r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Markdown + YAML frontmatter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93700" y="1422202"/>
            <a:ext cx="776602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每个 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Skill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由一份 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Markdown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文档定义，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YAML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头部声明元数据，正文承载指令与知识。这一格式已在 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30+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主流 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AI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编码工具中被采纳为开放标准。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7950" y="2171402"/>
            <a:ext cx="8128099" cy="1009352"/>
          </a:xfrm>
          <a:prstGeom prst="roundRect">
            <a:avLst>
              <a:gd name="adj" fmla="val 100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536525" y="2171402"/>
            <a:ext cx="0" cy="1009352"/>
          </a:xfrm>
          <a:prstGeom prst="line">
            <a:avLst/>
          </a:prstGeom>
          <a:noFill/>
          <a:ln w="57150">
            <a:solidFill>
              <a:srgbClr val="00B4D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93700" y="2349103"/>
            <a:ext cx="7766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三级加载机制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93700" y="2583954"/>
            <a:ext cx="776602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系统采用渐进式披露：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Catalog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（目录索引）→ 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Instructions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（指令加载）→ 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Resources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（资源注入）。每一级仅在需要时加载，节省上下文窗口。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07950" y="3333155"/>
            <a:ext cx="8128099" cy="958751"/>
          </a:xfrm>
          <a:prstGeom prst="roundRect">
            <a:avLst>
              <a:gd name="adj" fmla="val 10597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536525" y="3333155"/>
            <a:ext cx="0" cy="958751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93700" y="3485555"/>
            <a:ext cx="7766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E6510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核心挑战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93700" y="3720405"/>
            <a:ext cx="776602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触发判断依赖语义匹配，存在不确定性；缺乏负面约束机制，无法表达"不该做什么"；工具型与知识型 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Skill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混用同一格式，类型边界模糊。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_v4_workspace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0" y="762000"/>
            <a:ext cx="9144000" cy="5075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07950" y="152400"/>
            <a:ext cx="25647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当前架构的三个瓶颈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7950" y="482501"/>
            <a:ext cx="16542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Architectural Bottlenecks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81000" y="990600"/>
            <a:ext cx="2658517" cy="3835450"/>
          </a:xfrm>
          <a:prstGeom prst="roundRect">
            <a:avLst>
              <a:gd name="adj" fmla="val 47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81000" y="990600"/>
            <a:ext cx="2658517" cy="63401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/tmp/ppt_v4_workspace/num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50" y="1295251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4150" y="1853952"/>
            <a:ext cx="10102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触发不确定性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84150" y="2101602"/>
            <a:ext cx="2297260" cy="86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触发判断依赖 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250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字符 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description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的语义匹配。模型对同一描述的理解因上下文不同而波动，导致相同意图下触发率不稳定，是非确定性行为。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242667" y="990600"/>
            <a:ext cx="2658666" cy="3835450"/>
          </a:xfrm>
          <a:prstGeom prst="roundRect">
            <a:avLst>
              <a:gd name="adj" fmla="val 47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242667" y="990600"/>
            <a:ext cx="2658666" cy="63401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2" descr="/tmp/ppt_v4_workspace/num_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5818" y="1295251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45818" y="1853952"/>
            <a:ext cx="10102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缺乏类型系统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445818" y="2101602"/>
            <a:ext cx="2297412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body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是纯散文格式，无类型系统、无参数约束、无输入输出 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schema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。模型只能通过自然语言"猜测"参数边界，极易产生幻觉代码。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104483" y="990600"/>
            <a:ext cx="2658517" cy="3835450"/>
          </a:xfrm>
          <a:prstGeom prst="roundRect">
            <a:avLst>
              <a:gd name="adj" fmla="val 47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6104483" y="990600"/>
            <a:ext cx="2658517" cy="63401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tmp/ppt_v4_workspace/num_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7634" y="1295251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07634" y="1853952"/>
            <a:ext cx="6735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格式混淆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307634" y="2101602"/>
            <a:ext cx="2297260" cy="881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工具型 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Skill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（执行操作）与知识型 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Skill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（提供上下文）使用完全相同的 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Markdown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格式，系统无法区分两者的运行时语义。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_v4_workspace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0" y="762000"/>
            <a:ext cx="9144000" cy="5075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07950" y="152400"/>
            <a:ext cx="1796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双 Facet 架构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7950" y="482501"/>
            <a:ext cx="20577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Dual Facet Architecture: Tool + Prompt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81000" y="990600"/>
            <a:ext cx="4064050" cy="3898999"/>
          </a:xfrm>
          <a:prstGeom prst="roundRect">
            <a:avLst>
              <a:gd name="adj" fmla="val 3257"/>
            </a:avLst>
          </a:prstGeom>
          <a:solidFill>
            <a:srgbClr val="1B2A4A"/>
          </a:solidFill>
          <a:ln w="19050">
            <a:solidFill>
              <a:srgbClr val="00B4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210223" y="1162050"/>
            <a:ext cx="1038076" cy="228600"/>
          </a:xfrm>
          <a:prstGeom prst="roundRect">
            <a:avLst>
              <a:gd name="adj" fmla="val 22222"/>
            </a:avLst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311723" y="1200150"/>
            <a:ext cx="8517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DETERMINISTIC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28650" y="1212800"/>
            <a:ext cx="36401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0B4D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Tool Facet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8650" y="1498550"/>
            <a:ext cx="36401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Deterministic Operations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8650" y="1768376"/>
            <a:ext cx="3640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确定性操作层，负责可编程、可验证的执行逻辑。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28650" y="2044601"/>
            <a:ext cx="3568750" cy="91380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JSON Schema</a:t>
            </a:r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定义输入输出类型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脚本化执行，结果可预测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参数校验，消除幻觉空间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版本化管理，支持回滚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698950" y="990600"/>
            <a:ext cx="4064050" cy="3898999"/>
          </a:xfrm>
          <a:prstGeom prst="roundRect">
            <a:avLst>
              <a:gd name="adj" fmla="val 3257"/>
            </a:avLst>
          </a:prstGeom>
          <a:solidFill>
            <a:srgbClr val="FFFFFF"/>
          </a:solidFill>
          <a:ln w="19050">
            <a:solidFill>
              <a:srgbClr val="FF6B35"/>
            </a:solidFill>
          </a:ln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849642" y="1162050"/>
            <a:ext cx="716607" cy="228600"/>
          </a:xfrm>
          <a:prstGeom prst="roundRect">
            <a:avLst>
              <a:gd name="adj" fmla="val 22222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951143" y="1200150"/>
            <a:ext cx="5238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FLEXIBLE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946600" y="1212800"/>
            <a:ext cx="36401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6B3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Prompt Facet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946600" y="1498550"/>
            <a:ext cx="36401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Flexible Behavioral Guidance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946600" y="1768376"/>
            <a:ext cx="3640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柔性行为指导层，承载风格、偏好与领域知识。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946600" y="2044601"/>
            <a:ext cx="3568750" cy="91380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Markdown</a:t>
            </a:r>
            <a:pPr algn="l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自然语言描述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允许模型自主判断与发挥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支持渐进式约束分级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适配不同场景的弹性空间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97180" y="4927699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将确定性操作与柔性指导分离，让每种信号都用最合适的格式表达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_v4_workspace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0" y="762000"/>
            <a:ext cx="9144000" cy="5075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07950" y="152400"/>
            <a:ext cx="17097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盲测实验设计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7950" y="482501"/>
            <a:ext cx="15676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Blind Test Experiment Design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81000" y="990600"/>
            <a:ext cx="3174950" cy="1203127"/>
          </a:xfrm>
          <a:prstGeom prst="roundRect">
            <a:avLst>
              <a:gd name="adj" fmla="val 10556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09575" y="990600"/>
            <a:ext cx="0" cy="1203127"/>
          </a:xfrm>
          <a:prstGeom prst="line">
            <a:avLst/>
          </a:prstGeom>
          <a:noFill/>
          <a:ln w="5715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1300" y="1168301"/>
            <a:ext cx="2765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B4D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实验对象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1300" y="1415951"/>
            <a:ext cx="276573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以 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deliver skill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为标的，该 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Skill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涉及文件打包、质量审计、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AI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痕迹扫描等复杂操作，兼具工具型与知识型特征。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81000" y="2346127"/>
            <a:ext cx="3174950" cy="1628477"/>
          </a:xfrm>
          <a:prstGeom prst="roundRect">
            <a:avLst>
              <a:gd name="adj" fmla="val 77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84150" y="2523827"/>
            <a:ext cx="28240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测量维度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84150" y="2796778"/>
            <a:ext cx="2768650" cy="93672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7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触发率：是否正确识别意图</a:t>
            </a:r>
            <a:endParaRPr lang="en-US" sz="1050" dirty="0"/>
          </a:p>
          <a:p>
            <a:pPr algn="l" marL="88900" indent="-88900">
              <a:lnSpc>
                <a:spcPts val="147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约束遵循：字体/颜色/格式命中</a:t>
            </a:r>
            <a:endParaRPr lang="en-US" sz="1050" dirty="0"/>
          </a:p>
          <a:p>
            <a:pPr algn="l" marL="88900" indent="-88900">
              <a:lnSpc>
                <a:spcPts val="147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代码幻觉：虚构 </a:t>
            </a:r>
            <a:pPr algn="l" indent="0" marL="0">
              <a:lnSpc>
                <a:spcPts val="147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API</a:t>
            </a:r>
            <a:pPr algn="l" indent="0" marL="0">
              <a:lnSpc>
                <a:spcPts val="147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或路径</a:t>
            </a:r>
            <a:endParaRPr lang="en-US" sz="1050" dirty="0"/>
          </a:p>
          <a:p>
            <a:pPr algn="l" marL="88900" indent="-88900">
              <a:lnSpc>
                <a:spcPts val="147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执行效率：完成任务的步骤数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784550" y="990600"/>
            <a:ext cx="4978450" cy="654546"/>
          </a:xfrm>
          <a:prstGeom prst="roundRect">
            <a:avLst>
              <a:gd name="adj" fmla="val 1552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3808363" y="990600"/>
            <a:ext cx="0" cy="654546"/>
          </a:xfrm>
          <a:prstGeom prst="line">
            <a:avLst/>
          </a:prstGeom>
          <a:noFill/>
          <a:ln w="47625">
            <a:solidFill>
              <a:srgbClr val="4CAF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09876" y="1117550"/>
            <a:ext cx="46669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7D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V0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E7D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- 基线版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009876" y="1339751"/>
            <a:ext cx="4666932" cy="17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原始 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Markdown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散文格式，无结构化约束，完全依赖模型理解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784550" y="1772096"/>
            <a:ext cx="4978450" cy="654546"/>
          </a:xfrm>
          <a:prstGeom prst="roundRect">
            <a:avLst>
              <a:gd name="adj" fmla="val 15522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3808363" y="1772096"/>
            <a:ext cx="0" cy="654546"/>
          </a:xfrm>
          <a:prstGeom prst="line">
            <a:avLst/>
          </a:prstGeom>
          <a:noFill/>
          <a:ln w="47625">
            <a:solidFill>
              <a:srgbClr val="2196F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09876" y="1899047"/>
            <a:ext cx="46669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565C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V1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565C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- 结构化版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009876" y="2121247"/>
            <a:ext cx="4666932" cy="17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增加 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CONSTRAINT / ASPIRATION / FREEDOM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三级信号标注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784550" y="2553593"/>
            <a:ext cx="4978450" cy="654546"/>
          </a:xfrm>
          <a:prstGeom prst="roundRect">
            <a:avLst>
              <a:gd name="adj" fmla="val 15522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3808363" y="2553593"/>
            <a:ext cx="0" cy="654546"/>
          </a:xfrm>
          <a:prstGeom prst="line">
            <a:avLst/>
          </a:prstGeom>
          <a:noFill/>
          <a:ln w="47625">
            <a:solidFill>
              <a:srgbClr val="FF98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009876" y="2680543"/>
            <a:ext cx="46669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6510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V2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510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- 强约束版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009876" y="2902744"/>
            <a:ext cx="4666932" cy="17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进一步收紧 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CONSTRAINT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，硬编码更多执行细节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297180" y="4927699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三版本在相同任务上盲测，由不知道版本号的评审者打分评价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_v4_workspace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0" y="762000"/>
            <a:ext cx="9144000" cy="5075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07950" y="152400"/>
            <a:ext cx="29787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关键发现 — 约束的双面性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07950" y="482501"/>
            <a:ext cx="21020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Finding: The Duality of Constraints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81000" y="990600"/>
            <a:ext cx="4064050" cy="3898999"/>
          </a:xfrm>
          <a:prstGeom prst="roundRect">
            <a:avLst>
              <a:gd name="adj" fmla="val 3257"/>
            </a:avLst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28650" y="1212800"/>
            <a:ext cx="3640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正面效应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28650" y="1412825"/>
            <a:ext cx="36401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CAF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Positive Effects of CONSTRAINT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8650" y="1555700"/>
            <a:ext cx="3640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E7D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CONSTRAINT</a:t>
            </a:r>
            <a:pPr algn="l" indent="0" marL="0">
              <a:lnSpc>
                <a:spcPts val="1575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2E7D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信号显著提升了确定性维度的精确度：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28650" y="1857226"/>
            <a:ext cx="3568750" cy="90100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691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字体约束：中文黑体 + 英文 </a:t>
            </a:r>
            <a:pPr algn="l"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3691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Times New Roman</a:t>
            </a:r>
            <a:pPr algn="l"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3691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达到 </a:t>
            </a:r>
            <a:pPr algn="l"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3691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100%</a:t>
            </a:r>
            <a:pPr algn="l"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3691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命中率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691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颜色约束：指定色值被精确执行，零偏差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691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格式约束：总分总结构、每页一核心观点等规则被严格遵循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8650" y="2834432"/>
            <a:ext cx="3568750" cy="558403"/>
          </a:xfrm>
          <a:prstGeom prst="roundRect">
            <a:avLst>
              <a:gd name="adj" fmla="val 13646"/>
            </a:avLst>
          </a:prstGeom>
          <a:solidFill>
            <a:srgbClr val="4CAF50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81050" y="2935932"/>
            <a:ext cx="3329229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E7D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结论：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7D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硬约束在可枚举、可验证的维度上表现极佳，适合编码为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7D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CONSTRAINT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E7D3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信号。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698950" y="990600"/>
            <a:ext cx="4064050" cy="3898999"/>
          </a:xfrm>
          <a:prstGeom prst="roundRect">
            <a:avLst>
              <a:gd name="adj" fmla="val 3257"/>
            </a:avLst>
          </a:prstGeom>
          <a:solidFill>
            <a:srgbClr val="FFEBEE"/>
          </a:solidFill>
          <a:ln w="19050">
            <a:solidFill>
              <a:srgbClr val="E539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946600" y="1212800"/>
            <a:ext cx="3640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负面效应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946600" y="1412825"/>
            <a:ext cx="36401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539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Negative Effects of Over-Constraint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946600" y="1555700"/>
            <a:ext cx="3640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C6282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过度约束压制了模型的创意空间：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946600" y="1857226"/>
            <a:ext cx="3568750" cy="72330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71C1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V2</a:t>
            </a:r>
            <a:pPr algn="l" indent="0" marL="0">
              <a:lnSpc>
                <a:spcPts val="14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B71C1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强约束版产出零装饰素材，页面简陋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71C1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模型将所有注意力分配给规则遵循，牺牲美学判断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B71C1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约束越多，模型越倾向于"安全"的最小化执行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946600" y="2656731"/>
            <a:ext cx="3568750" cy="558403"/>
          </a:xfrm>
          <a:prstGeom prst="roundRect">
            <a:avLst>
              <a:gd name="adj" fmla="val 13646"/>
            </a:avLst>
          </a:prstGeom>
          <a:solidFill>
            <a:srgbClr val="E5393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099000" y="2758232"/>
            <a:ext cx="3329229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6282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结论：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6282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当约束侵入创意领域时，反而降低产出质量。美学、版式等维度需要不同的指导信号。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97180" y="4927699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约束不是越多越好 — 精确度与创造力之间存在可观测的权衡关系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_v4_workspace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0" y="762000"/>
            <a:ext cx="9144000" cy="50750"/>
          </a:xfrm>
          <a:prstGeom prst="rect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07950" y="152400"/>
            <a:ext cx="199471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三信号指导模型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7950" y="482501"/>
            <a:ext cx="15752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Three-Signal Guidance Model</a:t>
            </a:r>
            <a:endParaRPr lang="en-US" sz="1000" dirty="0"/>
          </a:p>
        </p:txBody>
      </p:sp>
      <p:pic>
        <p:nvPicPr>
          <p:cNvPr id="7" name="Image 1" descr="/tmp/ppt_v4_workspace/icon_constra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51" y="1317427"/>
            <a:ext cx="609600" cy="609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57151" y="990600"/>
            <a:ext cx="7505849" cy="1263402"/>
          </a:xfrm>
          <a:prstGeom prst="roundRect">
            <a:avLst>
              <a:gd name="adj" fmla="val 10052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1285726" y="990600"/>
            <a:ext cx="0" cy="1263402"/>
          </a:xfrm>
          <a:prstGeom prst="line">
            <a:avLst/>
          </a:prstGeom>
          <a:noFill/>
          <a:ln w="57150">
            <a:solidFill>
              <a:srgbClr val="E6394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517452" y="1143000"/>
            <a:ext cx="71832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6282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CONSTRAINT（硬边界）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517452" y="1384250"/>
            <a:ext cx="71832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E573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 Boundaries - Must Follow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517452" y="1603325"/>
            <a:ext cx="71832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不可违反的规则。违反即判定为失败。适用于可枚举、可验证的确定性维度。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517452" y="1879550"/>
            <a:ext cx="545902" cy="222052"/>
          </a:xfrm>
          <a:prstGeom prst="roundRect">
            <a:avLst>
              <a:gd name="adj" fmla="val 22878"/>
            </a:avLst>
          </a:prstGeom>
          <a:solidFill>
            <a:srgbClr val="E6394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1618952" y="1904851"/>
            <a:ext cx="3497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6282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颜色值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139553" y="1879550"/>
            <a:ext cx="660202" cy="222052"/>
          </a:xfrm>
          <a:prstGeom prst="roundRect">
            <a:avLst>
              <a:gd name="adj" fmla="val 22878"/>
            </a:avLst>
          </a:prstGeom>
          <a:solidFill>
            <a:srgbClr val="E6394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241054" y="1904851"/>
            <a:ext cx="4663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6282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字体规范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875955" y="1879550"/>
            <a:ext cx="660202" cy="222052"/>
          </a:xfrm>
          <a:prstGeom prst="roundRect">
            <a:avLst>
              <a:gd name="adj" fmla="val 22878"/>
            </a:avLst>
          </a:prstGeom>
          <a:solidFill>
            <a:srgbClr val="E6394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2977455" y="1904851"/>
            <a:ext cx="4663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6282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文件格式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612356" y="1879550"/>
            <a:ext cx="660202" cy="222052"/>
          </a:xfrm>
          <a:prstGeom prst="roundRect">
            <a:avLst>
              <a:gd name="adj" fmla="val 22878"/>
            </a:avLst>
          </a:prstGeom>
          <a:solidFill>
            <a:srgbClr val="E6394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713857" y="1904851"/>
            <a:ext cx="4663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6282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安全规则</a:t>
            </a:r>
            <a:endParaRPr lang="en-US" sz="900" dirty="0"/>
          </a:p>
        </p:txBody>
      </p:sp>
      <p:pic>
        <p:nvPicPr>
          <p:cNvPr id="21" name="Image 2" descr="/tmp/ppt_v4_workspace/icon_aspir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51" y="2707779"/>
            <a:ext cx="609600" cy="609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57151" y="2380952"/>
            <a:ext cx="7505849" cy="1263402"/>
          </a:xfrm>
          <a:prstGeom prst="roundRect">
            <a:avLst>
              <a:gd name="adj" fmla="val 10052"/>
            </a:avLst>
          </a:prstGeom>
          <a:solidFill>
            <a:srgbClr val="E0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18"/>
          <p:cNvSpPr/>
          <p:nvPr/>
        </p:nvSpPr>
        <p:spPr>
          <a:xfrm>
            <a:off x="1285726" y="2380952"/>
            <a:ext cx="0" cy="1263402"/>
          </a:xfrm>
          <a:prstGeom prst="line">
            <a:avLst/>
          </a:prstGeom>
          <a:noFill/>
          <a:ln w="57150">
            <a:solidFill>
              <a:srgbClr val="00B4D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517452" y="2533352"/>
            <a:ext cx="71832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838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ASPIRATION（软目标）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517452" y="2774603"/>
            <a:ext cx="71832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4DD0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 Goals - Should Pursue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517452" y="2993678"/>
            <a:ext cx="71832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期望的质量方向，不可违反 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CONSTRAINT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。为模型提供优化目标而非执行规则。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1517452" y="3269903"/>
            <a:ext cx="545902" cy="222052"/>
          </a:xfrm>
          <a:prstGeom prst="roundRect">
            <a:avLst>
              <a:gd name="adj" fmla="val 22878"/>
            </a:avLst>
          </a:prstGeom>
          <a:solidFill>
            <a:srgbClr val="00B4D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1618952" y="3295204"/>
            <a:ext cx="3497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838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精美度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2139553" y="3269903"/>
            <a:ext cx="660202" cy="222052"/>
          </a:xfrm>
          <a:prstGeom prst="roundRect">
            <a:avLst>
              <a:gd name="adj" fmla="val 22878"/>
            </a:avLst>
          </a:prstGeom>
          <a:solidFill>
            <a:srgbClr val="00B4D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2241054" y="3295204"/>
            <a:ext cx="4663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838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视觉丰富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2875955" y="3269903"/>
            <a:ext cx="545902" cy="222052"/>
          </a:xfrm>
          <a:prstGeom prst="roundRect">
            <a:avLst>
              <a:gd name="adj" fmla="val 22878"/>
            </a:avLst>
          </a:prstGeom>
          <a:solidFill>
            <a:srgbClr val="00B4D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2977455" y="3295204"/>
            <a:ext cx="3497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838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专业感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3498056" y="3269903"/>
            <a:ext cx="660202" cy="222052"/>
          </a:xfrm>
          <a:prstGeom prst="roundRect">
            <a:avLst>
              <a:gd name="adj" fmla="val 22878"/>
            </a:avLst>
          </a:prstGeom>
          <a:solidFill>
            <a:srgbClr val="00B4D8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3599557" y="3295204"/>
            <a:ext cx="4663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838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逻辑清晰</a:t>
            </a:r>
            <a:endParaRPr lang="en-US" sz="900" dirty="0"/>
          </a:p>
        </p:txBody>
      </p:sp>
      <p:pic>
        <p:nvPicPr>
          <p:cNvPr id="35" name="Image 3" descr="/tmp/ppt_v4_workspace/icon_freedo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351" y="4098131"/>
            <a:ext cx="609600" cy="60960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257151" y="3771305"/>
            <a:ext cx="7505849" cy="1263402"/>
          </a:xfrm>
          <a:prstGeom prst="roundRect">
            <a:avLst>
              <a:gd name="adj" fmla="val 1005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1"/>
          <p:cNvSpPr/>
          <p:nvPr/>
        </p:nvSpPr>
        <p:spPr>
          <a:xfrm>
            <a:off x="1285726" y="3771305"/>
            <a:ext cx="0" cy="1263402"/>
          </a:xfrm>
          <a:prstGeom prst="line">
            <a:avLst/>
          </a:prstGeom>
          <a:noFill/>
          <a:ln w="57150">
            <a:solidFill>
              <a:srgbClr val="2ECC71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1517452" y="3923705"/>
            <a:ext cx="71832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5E2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FREEDOM（自主空间）</a:t>
            </a:r>
            <a:endParaRPr lang="en-US" sz="1400" dirty="0"/>
          </a:p>
        </p:txBody>
      </p:sp>
      <p:sp>
        <p:nvSpPr>
          <p:cNvPr id="39" name="Text 33"/>
          <p:cNvSpPr/>
          <p:nvPr/>
        </p:nvSpPr>
        <p:spPr>
          <a:xfrm>
            <a:off x="1517452" y="4164955"/>
            <a:ext cx="71832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66BB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Autonomous Space - May Choose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517452" y="4384030"/>
            <a:ext cx="71832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模型可自主决策的领域，在边界和追求内自由发挥，释放创造力。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1517452" y="4660255"/>
            <a:ext cx="660202" cy="222052"/>
          </a:xfrm>
          <a:prstGeom prst="roundRect">
            <a:avLst>
              <a:gd name="adj" fmla="val 22878"/>
            </a:avLst>
          </a:prstGeom>
          <a:solidFill>
            <a:srgbClr val="2ECC7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1618952" y="4685556"/>
            <a:ext cx="4663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配色方案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2253853" y="4660255"/>
            <a:ext cx="660202" cy="222052"/>
          </a:xfrm>
          <a:prstGeom prst="roundRect">
            <a:avLst>
              <a:gd name="adj" fmla="val 22878"/>
            </a:avLst>
          </a:prstGeom>
          <a:solidFill>
            <a:srgbClr val="2ECC7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2355354" y="4685556"/>
            <a:ext cx="4663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装饰元素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2990255" y="4660255"/>
            <a:ext cx="660202" cy="222052"/>
          </a:xfrm>
          <a:prstGeom prst="roundRect">
            <a:avLst>
              <a:gd name="adj" fmla="val 22878"/>
            </a:avLst>
          </a:prstGeom>
          <a:solidFill>
            <a:srgbClr val="2ECC7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3091755" y="4685556"/>
            <a:ext cx="4663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版式选择</a:t>
            </a:r>
            <a:endParaRPr lang="en-US" sz="900" dirty="0"/>
          </a:p>
        </p:txBody>
      </p:sp>
      <p:sp>
        <p:nvSpPr>
          <p:cNvPr id="47" name="Text 41"/>
          <p:cNvSpPr/>
          <p:nvPr/>
        </p:nvSpPr>
        <p:spPr>
          <a:xfrm>
            <a:off x="3726656" y="4660255"/>
            <a:ext cx="660202" cy="222052"/>
          </a:xfrm>
          <a:prstGeom prst="roundRect">
            <a:avLst>
              <a:gd name="adj" fmla="val 22878"/>
            </a:avLst>
          </a:prstGeom>
          <a:solidFill>
            <a:srgbClr val="2ECC7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2"/>
          <p:cNvSpPr/>
          <p:nvPr/>
        </p:nvSpPr>
        <p:spPr>
          <a:xfrm>
            <a:off x="3828157" y="4685556"/>
            <a:ext cx="4663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背景样式</a:t>
            </a:r>
            <a:endParaRPr lang="en-US" sz="900" dirty="0"/>
          </a:p>
        </p:txBody>
      </p:sp>
      <p:sp>
        <p:nvSpPr>
          <p:cNvPr id="49" name="Text 43"/>
          <p:cNvSpPr/>
          <p:nvPr/>
        </p:nvSpPr>
        <p:spPr>
          <a:xfrm>
            <a:off x="297180" y="4953000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三种信号形成嵌套层级：CONSTRAINT 包含 ASPIRATION，ASPIRATION 包含 FREEDOM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_v4_workspace/bg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ppt_v4_workspace/pattern_diamo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/tmp/ppt_v4_workspace/circl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0"/>
            <a:ext cx="1650950" cy="1650950"/>
          </a:xfrm>
          <a:prstGeom prst="rect">
            <a:avLst/>
          </a:prstGeom>
        </p:spPr>
      </p:pic>
      <p:pic>
        <p:nvPicPr>
          <p:cNvPr id="5" name="Image 3" descr="/tmp/ppt_v4_workspace/circle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50" y="3365599"/>
            <a:ext cx="1269950" cy="126995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3665271" y="1083469"/>
            <a:ext cx="181345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总结与展望</a:t>
            </a:r>
            <a:endParaRPr lang="en-US" sz="2800" dirty="0"/>
          </a:p>
        </p:txBody>
      </p:sp>
      <p:sp>
        <p:nvSpPr>
          <p:cNvPr id="7" name="Text 1"/>
          <p:cNvSpPr/>
          <p:nvPr/>
        </p:nvSpPr>
        <p:spPr>
          <a:xfrm>
            <a:off x="3624283" y="1546920"/>
            <a:ext cx="18954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Summary &amp; Future Directions</a:t>
            </a:r>
            <a:endParaRPr lang="en-US" sz="1200" dirty="0"/>
          </a:p>
        </p:txBody>
      </p:sp>
      <p:sp>
        <p:nvSpPr>
          <p:cNvPr id="8" name="Text 2"/>
          <p:cNvSpPr/>
          <p:nvPr/>
        </p:nvSpPr>
        <p:spPr>
          <a:xfrm>
            <a:off x="762000" y="2099370"/>
            <a:ext cx="3657600" cy="1427113"/>
          </a:xfrm>
          <a:prstGeom prst="roundRect">
            <a:avLst>
              <a:gd name="adj" fmla="val 8899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3"/>
          <p:cNvSpPr/>
          <p:nvPr/>
        </p:nvSpPr>
        <p:spPr>
          <a:xfrm>
            <a:off x="762000" y="2123182"/>
            <a:ext cx="3657600" cy="0"/>
          </a:xfrm>
          <a:prstGeom prst="line">
            <a:avLst/>
          </a:prstGeom>
          <a:noFill/>
          <a:ln w="47625">
            <a:solidFill>
              <a:srgbClr val="00B4D8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965150" y="2375595"/>
            <a:ext cx="33163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0B4D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核心洞察</a:t>
            </a:r>
            <a:endParaRPr lang="en-US" sz="1300" dirty="0"/>
          </a:p>
        </p:txBody>
      </p:sp>
      <p:sp>
        <p:nvSpPr>
          <p:cNvPr id="11" name="Text 5"/>
          <p:cNvSpPr/>
          <p:nvPr/>
        </p:nvSpPr>
        <p:spPr>
          <a:xfrm>
            <a:off x="965150" y="2648545"/>
            <a:ext cx="3316325" cy="649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Skill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优化不是格式之争，而是信号分类问题。不同类型的指导意图需要不同的表达机制：约束用规则，激励用方向，自由用留白。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4724400" y="2099370"/>
            <a:ext cx="3657600" cy="1427113"/>
          </a:xfrm>
          <a:prstGeom prst="roundRect">
            <a:avLst>
              <a:gd name="adj" fmla="val 8899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7"/>
          <p:cNvSpPr/>
          <p:nvPr/>
        </p:nvSpPr>
        <p:spPr>
          <a:xfrm>
            <a:off x="4724400" y="2123182"/>
            <a:ext cx="3657600" cy="0"/>
          </a:xfrm>
          <a:prstGeom prst="line">
            <a:avLst/>
          </a:prstGeom>
          <a:noFill/>
          <a:ln w="47625">
            <a:solidFill>
              <a:srgbClr val="00B4D8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4927550" y="2375595"/>
            <a:ext cx="33163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0B4D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方法论启示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927550" y="2648545"/>
            <a:ext cx="3316325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约束和激励是两种本质不同的指导信号。将它们混为一谈会导致"过度约束压制创意"或"缺乏约束失去精度"的两难困境。三信号模型提供了分类框架。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2764006" y="3907482"/>
            <a:ext cx="36159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40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Markdown Progressive Disclosure to Three-Signal Architecture</a:t>
            </a:r>
            <a:endParaRPr lang="en-US" sz="1000" dirty="0"/>
          </a:p>
        </p:txBody>
      </p:sp>
      <p:pic>
        <p:nvPicPr>
          <p:cNvPr id="17" name="Image 4" descr="/tmp/ppt_v4_workspace/accent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092750"/>
            <a:ext cx="9144000" cy="50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Skill 的下一代指导范式</dc:title>
  <dc:subject>PptxGenJS Presentation</dc:subject>
  <dc:creator>Yang Lab</dc:creator>
  <cp:lastModifiedBy>Yang Lab</cp:lastModifiedBy>
  <cp:revision>1</cp:revision>
  <dcterms:created xsi:type="dcterms:W3CDTF">2026-04-04T10:07:32Z</dcterms:created>
  <dcterms:modified xsi:type="dcterms:W3CDTF">2026-04-04T10:07:32Z</dcterms:modified>
</cp:coreProperties>
</file>