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5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_v3_workspace/assets/line_teal_l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507950"/>
            <a:ext cx="2286000" cy="25301"/>
          </a:xfrm>
          <a:prstGeom prst="rect">
            <a:avLst/>
          </a:prstGeom>
        </p:spPr>
      </p:pic>
      <p:pic>
        <p:nvPicPr>
          <p:cNvPr id="3" name="Image 1" descr="/private/tmp/ppt_v3_workspace/assets/circle_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5901"/>
            <a:ext cx="2031950" cy="2031950"/>
          </a:xfrm>
          <a:prstGeom prst="rect">
            <a:avLst/>
          </a:prstGeom>
        </p:spPr>
      </p:pic>
      <p:pic>
        <p:nvPicPr>
          <p:cNvPr id="4" name="Image 2" descr="/private/tmp/ppt_v3_workspace/assets/circle_g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3111550"/>
            <a:ext cx="1524000" cy="1524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775623" y="574425"/>
            <a:ext cx="412952" cy="412951"/>
          </a:xfrm>
          <a:prstGeom prst="rect">
            <a:avLst/>
          </a:prstGeom>
          <a:noFill/>
          <a:ln w="19050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717306" y="3867105"/>
            <a:ext cx="305188" cy="305188"/>
          </a:xfrm>
          <a:prstGeom prst="rect">
            <a:avLst/>
          </a:prstGeom>
          <a:noFill/>
          <a:ln w="19050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2862225" y="1463725"/>
            <a:ext cx="341940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Agent Skill</a:t>
            </a:r>
            <a:endParaRPr lang="en-US" sz="3400" dirty="0"/>
          </a:p>
        </p:txBody>
      </p:sp>
      <p:sp>
        <p:nvSpPr>
          <p:cNvPr id="8" name="Text 3"/>
          <p:cNvSpPr/>
          <p:nvPr/>
        </p:nvSpPr>
        <p:spPr>
          <a:xfrm>
            <a:off x="2862225" y="1978075"/>
            <a:ext cx="341940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3200" b="1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的下一代指导范式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2788600" y="2625775"/>
            <a:ext cx="356665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从 Markdown 渐进式披露到三信号架构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4251390" y="3225850"/>
            <a:ext cx="6410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2026年4月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_v3_workspace/assets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81000"/>
            <a:ext cx="355550" cy="355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5901" y="415826"/>
            <a:ext cx="11399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问题背景</a:t>
            </a:r>
            <a:endParaRPr lang="en-US" sz="2200" dirty="0"/>
          </a:p>
        </p:txBody>
      </p:sp>
      <p:pic>
        <p:nvPicPr>
          <p:cNvPr id="4" name="Image 1" descr="/private/tmp/ppt_v3_workspace/assets/lin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863501"/>
            <a:ext cx="1524000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7950" y="1130201"/>
            <a:ext cx="3937099" cy="1397645"/>
          </a:xfrm>
          <a:prstGeom prst="roundRect">
            <a:avLst>
              <a:gd name="adj" fmla="val 7269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527000" y="1130201"/>
            <a:ext cx="0" cy="1397645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49201" y="1307902"/>
            <a:ext cx="35625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 Skill 系统架构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49201" y="1580852"/>
            <a:ext cx="356255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当前的 Agent Skill 系统基于 </a:t>
            </a:r>
            <a:pPr algn="l" indent="0" marL="0">
              <a:lnSpc>
                <a:spcPts val="168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00B4D8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Markdown + YAML frontmatter</a:t>
            </a:r>
            <a:pPr algn="l" indent="0" marL="0">
              <a:lnSpc>
                <a:spcPts val="168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构建，采用三级渐进式加载机制。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9201" y="2108895"/>
            <a:ext cx="665559" cy="190500"/>
          </a:xfrm>
          <a:prstGeom prst="roundRect">
            <a:avLst>
              <a:gd name="adj" fmla="val 26667"/>
            </a:avLst>
          </a:prstGeom>
          <a:solidFill>
            <a:srgbClr val="00B4D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850702" y="2146995"/>
            <a:ext cx="4718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Catalog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490960" y="2108895"/>
            <a:ext cx="810071" cy="190500"/>
          </a:xfrm>
          <a:prstGeom prst="roundRect">
            <a:avLst>
              <a:gd name="adj" fmla="val 26667"/>
            </a:avLst>
          </a:prstGeom>
          <a:solidFill>
            <a:srgbClr val="00B4D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592461" y="2146995"/>
            <a:ext cx="6192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Instructions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377232" y="2108895"/>
            <a:ext cx="762446" cy="190500"/>
          </a:xfrm>
          <a:prstGeom prst="roundRect">
            <a:avLst>
              <a:gd name="adj" fmla="val 26667"/>
            </a:avLst>
          </a:prstGeom>
          <a:solidFill>
            <a:srgbClr val="00B4D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478732" y="2146995"/>
            <a:ext cx="5706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Resources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7950" y="2680246"/>
            <a:ext cx="3937099" cy="1054894"/>
          </a:xfrm>
          <a:prstGeom prst="roundRect">
            <a:avLst>
              <a:gd name="adj" fmla="val 9631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527000" y="2680246"/>
            <a:ext cx="0" cy="1054894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49201" y="2857946"/>
            <a:ext cx="35625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C4B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行业影响力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49201" y="3130897"/>
            <a:ext cx="356255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该格式已被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4A261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30+ AI 工具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采纳为开放标准，覆盖代码助手、文档生成、数据分析等多个领域。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698950" y="1130201"/>
            <a:ext cx="3937099" cy="1768078"/>
          </a:xfrm>
          <a:prstGeom prst="roundRect">
            <a:avLst>
              <a:gd name="adj" fmla="val 5746"/>
            </a:avLst>
          </a:prstGeom>
          <a:solidFill>
            <a:srgbClr val="E6394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4718000" y="1130201"/>
            <a:ext cx="0" cy="1768078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40201" y="1307902"/>
            <a:ext cx="35625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6394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核心问题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940201" y="1606302"/>
            <a:ext cx="35625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尽管广泛采用，该体系面临三个根本性挑战：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940201" y="1946523"/>
            <a:ext cx="3492698" cy="77405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F4A26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触发不确定性</a:t>
            </a:r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— Skill 的激活依赖语义匹配，行为难以预测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F4A26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缺乏负面约束</a:t>
            </a:r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— 只说"做什么"，不说"不能做什么"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F4A26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工具/知识混淆</a:t>
            </a:r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— 执行型和指导型 Skill 共用同一格式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698950" y="3050679"/>
            <a:ext cx="4015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900" i="1" dirty="0">
                <a:solidFill>
                  <a:srgbClr val="FFFFFF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"The format is universal, but the signal is ambiguous."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8661350" y="4911775"/>
            <a:ext cx="1036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3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_v3_workspace/assets/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81000"/>
            <a:ext cx="330101" cy="3301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451" y="403175"/>
            <a:ext cx="25647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当前架构的三个瓶颈</a:t>
            </a:r>
            <a:endParaRPr lang="en-US" sz="2200" dirty="0"/>
          </a:p>
        </p:txBody>
      </p:sp>
      <p:pic>
        <p:nvPicPr>
          <p:cNvPr id="4" name="Image 1" descr="/private/tmp/ppt_v3_workspace/assets/lin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838051"/>
            <a:ext cx="1524000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7950" y="1130052"/>
            <a:ext cx="2573834" cy="3038921"/>
          </a:xfrm>
          <a:prstGeom prst="roundRect">
            <a:avLst>
              <a:gd name="adj" fmla="val 493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507950" y="1149102"/>
            <a:ext cx="2573834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pic>
        <p:nvPicPr>
          <p:cNvPr id="7" name="Image 2" descr="/private/tmp/ppt_v3_workspace/assets/num_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01" y="1396752"/>
            <a:ext cx="406301" cy="4063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1101" y="1949053"/>
            <a:ext cx="22108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4A26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触发的非确定性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11101" y="2202954"/>
            <a:ext cx="2210883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 的触发依赖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E63946">
                    <a:alpha val="82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250 字符 description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的语义判断。模型对同一描述的理解可能随上下文变化，导致触发行为不一致、不可预测。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284934" y="1130052"/>
            <a:ext cx="2573982" cy="3038921"/>
          </a:xfrm>
          <a:prstGeom prst="roundRect">
            <a:avLst>
              <a:gd name="adj" fmla="val 493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6"/>
          <p:cNvSpPr/>
          <p:nvPr/>
        </p:nvSpPr>
        <p:spPr>
          <a:xfrm>
            <a:off x="3284934" y="1149102"/>
            <a:ext cx="2573982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pic>
        <p:nvPicPr>
          <p:cNvPr id="12" name="Image 3" descr="/private/tmp/ppt_v3_workspace/assets/num_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085" y="1396752"/>
            <a:ext cx="406301" cy="4063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88085" y="1949053"/>
            <a:ext cx="22110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4A26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无类型系统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3488085" y="2202954"/>
            <a:ext cx="2211035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 body 是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E63946">
                    <a:alpha val="82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纯散文格式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，缺乏参数约束和类型声明。模型只能通过语义猜测参数范围和合法值，无法做静态校验。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062067" y="1130052"/>
            <a:ext cx="2573982" cy="3038921"/>
          </a:xfrm>
          <a:prstGeom prst="roundRect">
            <a:avLst>
              <a:gd name="adj" fmla="val 493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0"/>
          <p:cNvSpPr/>
          <p:nvPr/>
        </p:nvSpPr>
        <p:spPr>
          <a:xfrm>
            <a:off x="6062067" y="1149102"/>
            <a:ext cx="2573982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pic>
        <p:nvPicPr>
          <p:cNvPr id="17" name="Image 4" descr="/private/tmp/ppt_v3_workspace/assets/num_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5218" y="1396752"/>
            <a:ext cx="406301" cy="40630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65218" y="1949053"/>
            <a:ext cx="22110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4A26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Facet 混淆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265218" y="2202954"/>
            <a:ext cx="2211035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工具型 Skill（脚本执行）和知识型 Skill（行为指导）使用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E63946">
                    <a:alpha val="82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同一格式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，系统无法区分"调用工具"和"遵循指导"。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07950" y="4372124"/>
            <a:ext cx="8128099" cy="453926"/>
          </a:xfrm>
          <a:prstGeom prst="roundRect">
            <a:avLst>
              <a:gd name="adj" fmla="val 16787"/>
            </a:avLst>
          </a:prstGeom>
          <a:solidFill>
            <a:srgbClr val="00B4D8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4"/>
          <p:cNvSpPr/>
          <p:nvPr/>
        </p:nvSpPr>
        <p:spPr>
          <a:xfrm>
            <a:off x="527000" y="4372124"/>
            <a:ext cx="0" cy="453926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49201" y="4499074"/>
            <a:ext cx="78373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B4D8">
                    <a:alpha val="9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结论：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这三个瓶颈源于同一根因 — 当前格式缺乏结构化的信号分类机制，所有指令都以同等权重的散文形式呈现。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8661350" y="4911775"/>
            <a:ext cx="1036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3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_v3_workspace/assets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55550"/>
            <a:ext cx="330101" cy="3301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451" y="377726"/>
            <a:ext cx="1796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双 Facet 架构</a:t>
            </a:r>
            <a:endParaRPr lang="en-US" sz="2200" dirty="0"/>
          </a:p>
        </p:txBody>
      </p:sp>
      <p:pic>
        <p:nvPicPr>
          <p:cNvPr id="4" name="Image 1" descr="/private/tmp/ppt_v3_workspace/assets/lin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787152"/>
            <a:ext cx="1524000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7950" y="1028402"/>
            <a:ext cx="3556099" cy="3229421"/>
          </a:xfrm>
          <a:prstGeom prst="roundRect">
            <a:avLst>
              <a:gd name="adj" fmla="val 3933"/>
            </a:avLst>
          </a:prstGeom>
          <a:solidFill>
            <a:srgbClr val="00B4D8">
              <a:alpha val="8000"/>
            </a:srgbClr>
          </a:solidFill>
          <a:ln w="19050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55600" y="1276052"/>
            <a:ext cx="3060799" cy="193477"/>
          </a:xfrm>
          <a:prstGeom prst="roundRect">
            <a:avLst>
              <a:gd name="adj" fmla="val 26256"/>
            </a:avLst>
          </a:prstGeom>
          <a:solidFill>
            <a:srgbClr val="00B4D8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857101" y="1301353"/>
            <a:ext cx="29149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 FACET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55600" y="1596479"/>
            <a:ext cx="31220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确定性操作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55600" y="197733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933301" y="1913930"/>
            <a:ext cx="286409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JSON Schema 严格定义参数类型、范围和必填项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55600" y="226918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933301" y="2205782"/>
            <a:ext cx="194264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脚本执行引擎保证操作的可重复性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55600" y="256103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933301" y="2497634"/>
            <a:ext cx="168366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输入输出可验证，行为可预测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55600" y="2916436"/>
            <a:ext cx="3122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900" i="1" dirty="0">
                <a:solidFill>
                  <a:srgbClr val="FFFFFF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"What to do, exactly."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59201" y="1633389"/>
            <a:ext cx="25301" cy="762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400401" y="2471589"/>
            <a:ext cx="342900" cy="342900"/>
          </a:xfrm>
          <a:prstGeom prst="roundRect">
            <a:avLst>
              <a:gd name="adj" fmla="val 266667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533305" y="2581126"/>
            <a:ext cx="784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+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59201" y="2890689"/>
            <a:ext cx="25301" cy="762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079802" y="1028402"/>
            <a:ext cx="3556248" cy="3229421"/>
          </a:xfrm>
          <a:prstGeom prst="roundRect">
            <a:avLst>
              <a:gd name="adj" fmla="val 3933"/>
            </a:avLst>
          </a:prstGeom>
          <a:solidFill>
            <a:srgbClr val="F4A261">
              <a:alpha val="8000"/>
            </a:srgbClr>
          </a:solidFill>
          <a:ln w="19050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327452" y="1276052"/>
            <a:ext cx="3060948" cy="193477"/>
          </a:xfrm>
          <a:prstGeom prst="roundRect">
            <a:avLst>
              <a:gd name="adj" fmla="val 26256"/>
            </a:avLst>
          </a:prstGeom>
          <a:solidFill>
            <a:srgbClr val="F4A26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428952" y="1301353"/>
            <a:ext cx="2915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 FACET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327452" y="1596479"/>
            <a:ext cx="31221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4A26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柔性行为指导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327452" y="197733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505152" y="1913930"/>
            <a:ext cx="238773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Markdown 格式承载设计理念与最佳实践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327452" y="226918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5505152" y="2205782"/>
            <a:ext cx="181315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允许模型在约束边界内自主创造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327452" y="256103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505152" y="2497634"/>
            <a:ext cx="129519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软性指导而非硬性命令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327452" y="2916436"/>
            <a:ext cx="31221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900" i="1" dirty="0">
                <a:solidFill>
                  <a:srgbClr val="FFFFFF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"How to think about it."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07950" y="4410224"/>
            <a:ext cx="8128099" cy="453926"/>
          </a:xfrm>
          <a:prstGeom prst="roundRect">
            <a:avLst>
              <a:gd name="adj" fmla="val 16787"/>
            </a:avLst>
          </a:prstGeom>
          <a:solidFill>
            <a:srgbClr val="2EC4B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8"/>
          <p:cNvSpPr/>
          <p:nvPr/>
        </p:nvSpPr>
        <p:spPr>
          <a:xfrm>
            <a:off x="527000" y="4410224"/>
            <a:ext cx="0" cy="453926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49201" y="4537174"/>
            <a:ext cx="78373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EC4B6">
                    <a:alpha val="9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核心思路：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将 Skill 拆分为两个互补的 Facet，让确定性操作和柔性指导各归其位，消除格式混淆。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8661350" y="4911775"/>
            <a:ext cx="1036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3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_v3_workspace/assets/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55550"/>
            <a:ext cx="330101" cy="3301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451" y="377726"/>
            <a:ext cx="17097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盲测实验设计</a:t>
            </a:r>
            <a:endParaRPr lang="en-US" sz="2200" dirty="0"/>
          </a:p>
        </p:txBody>
      </p:sp>
      <p:pic>
        <p:nvPicPr>
          <p:cNvPr id="4" name="Image 1" descr="/private/tmp/ppt_v3_workspace/assets/lin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787152"/>
            <a:ext cx="1524000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7950" y="1028402"/>
            <a:ext cx="2539901" cy="1367879"/>
          </a:xfrm>
          <a:prstGeom prst="roundRect">
            <a:avLst>
              <a:gd name="adj" fmla="val 7428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95176" y="1190327"/>
            <a:ext cx="22087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实验对象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95176" y="1444228"/>
            <a:ext cx="2208758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以 </a:t>
            </a:r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4A261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deliver skill</a:t>
            </a:r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为基准，该 Skill 包含文件打包、质量审计、ZIP 生成等确定性操作。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95176" y="2091482"/>
            <a:ext cx="2208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"Same task, three paradigms."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7950" y="2523232"/>
            <a:ext cx="2539901" cy="834926"/>
          </a:xfrm>
          <a:prstGeom prst="roundRect">
            <a:avLst>
              <a:gd name="adj" fmla="val 9127"/>
            </a:avLst>
          </a:prstGeom>
          <a:solidFill>
            <a:srgbClr val="F4A261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17475" y="2523232"/>
            <a:ext cx="0" cy="834926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04701" y="2650182"/>
            <a:ext cx="2208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4A26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控制变量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04701" y="2869257"/>
            <a:ext cx="220875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FFFFFF">
                    <a:alpha val="7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同一用户指令、同一模型、同一项目环境，仅变更 Skill 指导文本。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276451" y="1028402"/>
            <a:ext cx="1701850" cy="1000571"/>
          </a:xfrm>
          <a:prstGeom prst="roundRect">
            <a:avLst>
              <a:gd name="adj" fmla="val 1015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424596" y="1190327"/>
            <a:ext cx="14055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>
                    <a:alpha val="7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V0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24596" y="1412528"/>
            <a:ext cx="140556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原始版本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纯散文指导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105251" y="1028402"/>
            <a:ext cx="1701998" cy="1000571"/>
          </a:xfrm>
          <a:prstGeom prst="roundRect">
            <a:avLst>
              <a:gd name="adj" fmla="val 10154"/>
            </a:avLst>
          </a:prstGeom>
          <a:solidFill>
            <a:srgbClr val="F4A261">
              <a:alpha val="8000"/>
            </a:srgbClr>
          </a:solidFill>
          <a:ln w="9525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253395" y="1190327"/>
            <a:ext cx="14057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4A26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V1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253395" y="1412528"/>
            <a:ext cx="140571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结构优化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分节 + 检查清单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934200" y="1028402"/>
            <a:ext cx="1701850" cy="1000571"/>
          </a:xfrm>
          <a:prstGeom prst="roundRect">
            <a:avLst>
              <a:gd name="adj" fmla="val 10154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082345" y="1190327"/>
            <a:ext cx="14055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V2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082345" y="1412528"/>
            <a:ext cx="140556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三信号架构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 + ASPIRATION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276451" y="2155924"/>
            <a:ext cx="54667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测量维度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276451" y="2457450"/>
            <a:ext cx="2629049" cy="549176"/>
          </a:xfrm>
          <a:prstGeom prst="roundRect">
            <a:avLst>
              <a:gd name="adj" fmla="val 1387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3276451" y="2997101"/>
            <a:ext cx="262904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28851" y="2584400"/>
            <a:ext cx="23707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触发率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428851" y="2746325"/>
            <a:ext cx="237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 是否被正确激活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007001" y="2457450"/>
            <a:ext cx="2629049" cy="549176"/>
          </a:xfrm>
          <a:prstGeom prst="roundRect">
            <a:avLst>
              <a:gd name="adj" fmla="val 1387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6007001" y="2997101"/>
            <a:ext cx="262904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159401" y="2584400"/>
            <a:ext cx="23707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约束遵循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159401" y="2746325"/>
            <a:ext cx="237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字体/颜色/格式命中率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276451" y="3108127"/>
            <a:ext cx="2629049" cy="549176"/>
          </a:xfrm>
          <a:prstGeom prst="roundRect">
            <a:avLst>
              <a:gd name="adj" fmla="val 1387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8"/>
          <p:cNvSpPr/>
          <p:nvPr/>
        </p:nvSpPr>
        <p:spPr>
          <a:xfrm>
            <a:off x="3276451" y="3647777"/>
            <a:ext cx="262904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428851" y="3235077"/>
            <a:ext cx="23707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代码幻觉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3428851" y="3397002"/>
            <a:ext cx="237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是否生成无效代码路径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007001" y="3108127"/>
            <a:ext cx="2629049" cy="549176"/>
          </a:xfrm>
          <a:prstGeom prst="roundRect">
            <a:avLst>
              <a:gd name="adj" fmla="val 1387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2"/>
          <p:cNvSpPr/>
          <p:nvPr/>
        </p:nvSpPr>
        <p:spPr>
          <a:xfrm>
            <a:off x="6007001" y="3647777"/>
            <a:ext cx="2629049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159401" y="3235077"/>
            <a:ext cx="23707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执行效率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6159401" y="3397002"/>
            <a:ext cx="23707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50" dirty="0">
                <a:solidFill>
                  <a:srgbClr val="FFFFFF">
                    <a:alpha val="6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完成任务的总耗时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07950" y="4419898"/>
            <a:ext cx="8128099" cy="444252"/>
          </a:xfrm>
          <a:prstGeom prst="roundRect">
            <a:avLst>
              <a:gd name="adj" fmla="val 17152"/>
            </a:avLst>
          </a:prstGeom>
          <a:solidFill>
            <a:srgbClr val="00B4D8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6"/>
          <p:cNvSpPr/>
          <p:nvPr/>
        </p:nvSpPr>
        <p:spPr>
          <a:xfrm>
            <a:off x="527000" y="4419898"/>
            <a:ext cx="0" cy="444252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49201" y="4546848"/>
            <a:ext cx="783737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B4D8">
                    <a:alpha val="9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实验假设：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结构化信号分类（V2）将在约束遵循和执行效率上显著优于纯散文指导（V0），同时保持创造力。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8661350" y="4911775"/>
            <a:ext cx="1036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3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_v3_workspace/assets/icon_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55550"/>
            <a:ext cx="330101" cy="3301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451" y="387251"/>
            <a:ext cx="29787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关键发现 — 约束的双面性</a:t>
            </a:r>
            <a:endParaRPr lang="en-US" sz="2000" dirty="0"/>
          </a:p>
        </p:txBody>
      </p:sp>
      <p:pic>
        <p:nvPicPr>
          <p:cNvPr id="4" name="Image 1" descr="/private/tmp/ppt_v3_workspace/assets/lin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787152"/>
            <a:ext cx="1524000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7950" y="1053852"/>
            <a:ext cx="3619649" cy="2958108"/>
          </a:xfrm>
          <a:prstGeom prst="roundRect">
            <a:avLst>
              <a:gd name="adj" fmla="val 4293"/>
            </a:avLst>
          </a:prstGeom>
          <a:solidFill>
            <a:srgbClr val="2EC4B6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507950" y="1072902"/>
            <a:ext cx="3619649" cy="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122837" y="1053852"/>
            <a:ext cx="0" cy="2958108"/>
          </a:xfrm>
          <a:prstGeom prst="line">
            <a:avLst/>
          </a:prstGeom>
          <a:noFill/>
          <a:ln w="9525">
            <a:solidFill>
              <a:srgbClr val="2EC4B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07950" y="4007197"/>
            <a:ext cx="3619649" cy="0"/>
          </a:xfrm>
          <a:prstGeom prst="line">
            <a:avLst/>
          </a:prstGeom>
          <a:noFill/>
          <a:ln w="9525">
            <a:solidFill>
              <a:srgbClr val="2EC4B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12713" y="1053852"/>
            <a:ext cx="0" cy="2958108"/>
          </a:xfrm>
          <a:prstGeom prst="line">
            <a:avLst/>
          </a:prstGeom>
          <a:noFill/>
          <a:ln w="9525">
            <a:solidFill>
              <a:srgbClr val="2EC4B6"/>
            </a:solidFill>
            <a:prstDash val="solid"/>
          </a:ln>
        </p:spPr>
      </p:sp>
      <p:pic>
        <p:nvPicPr>
          <p:cNvPr id="10" name="Image 2" descr="/private/tmp/ppt_v3_workspace/asset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26" y="1295102"/>
            <a:ext cx="381000" cy="381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0626" y="1777603"/>
            <a:ext cx="32581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EC4B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 提升精确度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20626" y="2076004"/>
            <a:ext cx="3258184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显式约束信号让模型在关键参数上实现了近乎完美的遵从：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20626" y="2634258"/>
            <a:ext cx="1210866" cy="174427"/>
          </a:xfrm>
          <a:prstGeom prst="roundRect">
            <a:avLst>
              <a:gd name="adj" fmla="val 29124"/>
            </a:avLst>
          </a:prstGeom>
          <a:solidFill>
            <a:srgbClr val="2EC4B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822127" y="2659559"/>
            <a:ext cx="1028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颜色值 100% 命中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720626" y="2960787"/>
            <a:ext cx="1337816" cy="174427"/>
          </a:xfrm>
          <a:prstGeom prst="roundRect">
            <a:avLst>
              <a:gd name="adj" fmla="val 29124"/>
            </a:avLst>
          </a:prstGeom>
          <a:solidFill>
            <a:srgbClr val="2EC4B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822127" y="2986088"/>
            <a:ext cx="11575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字体选择 100% 命中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20626" y="3287316"/>
            <a:ext cx="1337816" cy="174427"/>
          </a:xfrm>
          <a:prstGeom prst="roundRect">
            <a:avLst>
              <a:gd name="adj" fmla="val 29124"/>
            </a:avLst>
          </a:prstGeom>
          <a:solidFill>
            <a:srgbClr val="2EC4B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822127" y="3312616"/>
            <a:ext cx="11575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格式规范 100% 命中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20626" y="3690045"/>
            <a:ext cx="32581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8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V0 版本在这些维度仅达到约 60-80% 的一致性。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65600" y="1745605"/>
            <a:ext cx="12650" cy="634901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4490740" y="2456706"/>
            <a:ext cx="1656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>
                    <a:alpha val="4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65600" y="2685306"/>
            <a:ext cx="12650" cy="634901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5016401" y="1053852"/>
            <a:ext cx="3619649" cy="2958108"/>
          </a:xfrm>
          <a:prstGeom prst="roundRect">
            <a:avLst>
              <a:gd name="adj" fmla="val 4293"/>
            </a:avLst>
          </a:prstGeom>
          <a:solidFill>
            <a:srgbClr val="E63946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19"/>
          <p:cNvSpPr/>
          <p:nvPr/>
        </p:nvSpPr>
        <p:spPr>
          <a:xfrm>
            <a:off x="5016401" y="1072902"/>
            <a:ext cx="3619649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631287" y="1053852"/>
            <a:ext cx="0" cy="2958108"/>
          </a:xfrm>
          <a:prstGeom prst="line">
            <a:avLst/>
          </a:prstGeom>
          <a:noFill/>
          <a:ln w="9525">
            <a:solidFill>
              <a:srgbClr val="E6394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016401" y="4007197"/>
            <a:ext cx="3619649" cy="0"/>
          </a:xfrm>
          <a:prstGeom prst="line">
            <a:avLst/>
          </a:prstGeom>
          <a:noFill/>
          <a:ln w="9525">
            <a:solidFill>
              <a:srgbClr val="E6394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021163" y="1053852"/>
            <a:ext cx="0" cy="2958108"/>
          </a:xfrm>
          <a:prstGeom prst="line">
            <a:avLst/>
          </a:prstGeom>
          <a:noFill/>
          <a:ln w="9525">
            <a:solidFill>
              <a:srgbClr val="E63946"/>
            </a:solidFill>
            <a:prstDash val="solid"/>
          </a:ln>
        </p:spPr>
      </p:sp>
      <p:pic>
        <p:nvPicPr>
          <p:cNvPr id="28" name="Image 3" descr="/private/tmp/ppt_v3_workspace/assets/icon_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076" y="1295102"/>
            <a:ext cx="381000" cy="3810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29076" y="1777603"/>
            <a:ext cx="32581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6394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过度约束压制创意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229076" y="2076004"/>
            <a:ext cx="3258184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V2 版本在严格约束下表现出明显的创造力退化：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229076" y="2431256"/>
            <a:ext cx="1302693" cy="174427"/>
          </a:xfrm>
          <a:prstGeom prst="roundRect">
            <a:avLst>
              <a:gd name="adj" fmla="val 29124"/>
            </a:avLst>
          </a:prstGeom>
          <a:solidFill>
            <a:srgbClr val="E6394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5330577" y="2456557"/>
            <a:ext cx="11216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装饰素材使用量 = 0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229076" y="2757785"/>
            <a:ext cx="1218754" cy="174427"/>
          </a:xfrm>
          <a:prstGeom prst="roundRect">
            <a:avLst>
              <a:gd name="adj" fmla="val 29124"/>
            </a:avLst>
          </a:prstGeom>
          <a:solidFill>
            <a:srgbClr val="E6394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5330577" y="2783086"/>
            <a:ext cx="10360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版式变化趋近单一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229076" y="3160514"/>
            <a:ext cx="325818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800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模型将所有指令视为硬约束，在"安全"优先的策略下主动放弃了创造空间。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507950" y="4189661"/>
            <a:ext cx="8128099" cy="704850"/>
          </a:xfrm>
          <a:prstGeom prst="roundRect">
            <a:avLst>
              <a:gd name="adj" fmla="val 10811"/>
            </a:avLst>
          </a:prstGeom>
          <a:solidFill>
            <a:srgbClr val="F4A261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1"/>
          <p:cNvSpPr/>
          <p:nvPr/>
        </p:nvSpPr>
        <p:spPr>
          <a:xfrm>
            <a:off x="527000" y="4189661"/>
            <a:ext cx="0" cy="70485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49201" y="4342061"/>
            <a:ext cx="78373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4A261">
                    <a:alpha val="9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洞察：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约束和激励是两种不同性质的信号。将"必须用黑体"和"追求精美"写在同一层级，模型会将后者也理解为硬性要求，从而选择最保守的实现方式。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8661350" y="4911775"/>
            <a:ext cx="1036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3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_v3_workspace/assets/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30101"/>
            <a:ext cx="330101" cy="3301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451" y="352276"/>
            <a:ext cx="19947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三信号指导模型</a:t>
            </a:r>
            <a:endParaRPr lang="en-US" sz="2200" dirty="0"/>
          </a:p>
        </p:txBody>
      </p:sp>
      <p:pic>
        <p:nvPicPr>
          <p:cNvPr id="4" name="Image 1" descr="/private/tmp/ppt_v3_workspace/assets/lin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761702"/>
            <a:ext cx="1524000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7950" y="977503"/>
            <a:ext cx="2336899" cy="3131493"/>
          </a:xfrm>
          <a:prstGeom prst="roundRect">
            <a:avLst>
              <a:gd name="adj" fmla="val 5435"/>
            </a:avLst>
          </a:prstGeom>
          <a:solidFill>
            <a:srgbClr val="E63946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507950" y="996553"/>
            <a:ext cx="2336899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840087" y="977503"/>
            <a:ext cx="0" cy="3131493"/>
          </a:xfrm>
          <a:prstGeom prst="line">
            <a:avLst/>
          </a:prstGeom>
          <a:noFill/>
          <a:ln w="9525">
            <a:solidFill>
              <a:srgbClr val="E6394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07950" y="4104233"/>
            <a:ext cx="2336899" cy="0"/>
          </a:xfrm>
          <a:prstGeom prst="line">
            <a:avLst/>
          </a:prstGeom>
          <a:noFill/>
          <a:ln w="9525">
            <a:solidFill>
              <a:srgbClr val="E6394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12713" y="977503"/>
            <a:ext cx="0" cy="3131493"/>
          </a:xfrm>
          <a:prstGeom prst="line">
            <a:avLst/>
          </a:prstGeom>
          <a:noFill/>
          <a:ln w="9525">
            <a:solidFill>
              <a:srgbClr val="E63946"/>
            </a:solidFill>
            <a:prstDash val="solid"/>
          </a:ln>
        </p:spPr>
      </p:sp>
      <p:pic>
        <p:nvPicPr>
          <p:cNvPr id="10" name="Image 2" descr="/private/tmp/ppt_v3_workspace/assets/icon_constra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1193304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68301" y="1752005"/>
            <a:ext cx="1016050" cy="219075"/>
          </a:xfrm>
          <a:prstGeom prst="roundRect">
            <a:avLst>
              <a:gd name="adj" fmla="val 23188"/>
            </a:avLst>
          </a:prstGeom>
          <a:solidFill>
            <a:srgbClr val="E6394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1287630" y="1790105"/>
            <a:ext cx="777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CONSTRAINT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443228" y="2072580"/>
            <a:ext cx="466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6394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硬边界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75552" y="2326481"/>
            <a:ext cx="20016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必须遵守的不可协商规则，违反即为错误。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95176" y="283428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834777" y="2770882"/>
            <a:ext cx="8161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颜色值严格匹配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95176" y="305767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834777" y="2994273"/>
            <a:ext cx="8285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中文字体 = 黑体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95176" y="3281065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834777" y="3217664"/>
            <a:ext cx="8821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输出格式 = .pptx</a:t>
            </a:r>
            <a:endParaRPr lang="en-US" sz="900" dirty="0"/>
          </a:p>
        </p:txBody>
      </p:sp>
      <p:pic>
        <p:nvPicPr>
          <p:cNvPr id="21" name="Image 3" descr="/private/tmp/ppt_v3_workspace/assets/icon_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851" y="2466975"/>
            <a:ext cx="152400" cy="1524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403402" y="977503"/>
            <a:ext cx="2337048" cy="3131493"/>
          </a:xfrm>
          <a:prstGeom prst="roundRect">
            <a:avLst>
              <a:gd name="adj" fmla="val 5434"/>
            </a:avLst>
          </a:prstGeom>
          <a:solidFill>
            <a:srgbClr val="F4A261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7"/>
          <p:cNvSpPr/>
          <p:nvPr/>
        </p:nvSpPr>
        <p:spPr>
          <a:xfrm>
            <a:off x="3403402" y="996553"/>
            <a:ext cx="2337048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735687" y="977503"/>
            <a:ext cx="0" cy="3131493"/>
          </a:xfrm>
          <a:prstGeom prst="line">
            <a:avLst/>
          </a:prstGeom>
          <a:noFill/>
          <a:ln w="9525">
            <a:solidFill>
              <a:srgbClr val="F4A26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03402" y="4104233"/>
            <a:ext cx="2337048" cy="0"/>
          </a:xfrm>
          <a:prstGeom prst="line">
            <a:avLst/>
          </a:prstGeom>
          <a:noFill/>
          <a:ln w="9525">
            <a:solidFill>
              <a:srgbClr val="F4A26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08164" y="977503"/>
            <a:ext cx="0" cy="3131493"/>
          </a:xfrm>
          <a:prstGeom prst="line">
            <a:avLst/>
          </a:prstGeom>
          <a:noFill/>
          <a:ln w="9525">
            <a:solidFill>
              <a:srgbClr val="F4A261"/>
            </a:solidFill>
            <a:prstDash val="solid"/>
          </a:ln>
        </p:spPr>
      </p:sp>
      <p:pic>
        <p:nvPicPr>
          <p:cNvPr id="27" name="Image 4" descr="/private/tmp/ppt_v3_workspace/assets/icon_aspir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251" y="119330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90243" y="1752005"/>
            <a:ext cx="963216" cy="219075"/>
          </a:xfrm>
          <a:prstGeom prst="roundRect">
            <a:avLst>
              <a:gd name="adj" fmla="val 23188"/>
            </a:avLst>
          </a:prstGeom>
          <a:solidFill>
            <a:srgbClr val="F4A26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4210101" y="1790105"/>
            <a:ext cx="7235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ASPIRATION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4338679" y="2072580"/>
            <a:ext cx="466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4A26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软目标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571001" y="2326481"/>
            <a:ext cx="20018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积极追求的品质目标，应尽力实现但允许权衡。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3590627" y="283428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3730228" y="2770882"/>
            <a:ext cx="8161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视觉精美、专业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3590627" y="305767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3730228" y="2994273"/>
            <a:ext cx="6995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装饰元素丰富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3590627" y="3281065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3730228" y="3217664"/>
            <a:ext cx="6995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逻辑层次分明</a:t>
            </a:r>
            <a:endParaRPr lang="en-US" sz="900" dirty="0"/>
          </a:p>
        </p:txBody>
      </p:sp>
      <p:pic>
        <p:nvPicPr>
          <p:cNvPr id="38" name="Image 5" descr="/private/tmp/ppt_v3_workspace/assets/icon_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451" y="2466975"/>
            <a:ext cx="152400" cy="1524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299002" y="977503"/>
            <a:ext cx="2337048" cy="3131493"/>
          </a:xfrm>
          <a:prstGeom prst="roundRect">
            <a:avLst>
              <a:gd name="adj" fmla="val 5434"/>
            </a:avLst>
          </a:prstGeom>
          <a:solidFill>
            <a:srgbClr val="2EC4B6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2"/>
          <p:cNvSpPr/>
          <p:nvPr/>
        </p:nvSpPr>
        <p:spPr>
          <a:xfrm>
            <a:off x="6299002" y="996553"/>
            <a:ext cx="2337048" cy="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8631287" y="977503"/>
            <a:ext cx="0" cy="3131493"/>
          </a:xfrm>
          <a:prstGeom prst="line">
            <a:avLst/>
          </a:prstGeom>
          <a:noFill/>
          <a:ln w="9525">
            <a:solidFill>
              <a:srgbClr val="2EC4B6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299002" y="4104233"/>
            <a:ext cx="2337048" cy="0"/>
          </a:xfrm>
          <a:prstGeom prst="line">
            <a:avLst/>
          </a:prstGeom>
          <a:noFill/>
          <a:ln w="9525">
            <a:solidFill>
              <a:srgbClr val="2EC4B6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303764" y="977503"/>
            <a:ext cx="0" cy="3131493"/>
          </a:xfrm>
          <a:prstGeom prst="line">
            <a:avLst/>
          </a:prstGeom>
          <a:noFill/>
          <a:ln w="9525">
            <a:solidFill>
              <a:srgbClr val="2EC4B6"/>
            </a:solidFill>
            <a:prstDash val="solid"/>
          </a:ln>
        </p:spPr>
      </p:sp>
      <p:pic>
        <p:nvPicPr>
          <p:cNvPr id="44" name="Image 6" descr="/private/tmp/ppt_v3_workspace/assets/icon_freedo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8851" y="1193304"/>
            <a:ext cx="457200" cy="45720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048351" y="1752005"/>
            <a:ext cx="838200" cy="219075"/>
          </a:xfrm>
          <a:prstGeom prst="roundRect">
            <a:avLst>
              <a:gd name="adj" fmla="val 23188"/>
            </a:avLst>
          </a:prstGeom>
          <a:solidFill>
            <a:srgbClr val="2EC4B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7169459" y="1790105"/>
            <a:ext cx="595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FREEDOM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7156555" y="2072580"/>
            <a:ext cx="621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C4B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自主空间</a:t>
            </a:r>
            <a:endParaRPr lang="en-US" sz="1200" dirty="0"/>
          </a:p>
        </p:txBody>
      </p:sp>
      <p:sp>
        <p:nvSpPr>
          <p:cNvPr id="48" name="Text 39"/>
          <p:cNvSpPr/>
          <p:nvPr/>
        </p:nvSpPr>
        <p:spPr>
          <a:xfrm>
            <a:off x="6466601" y="2326481"/>
            <a:ext cx="20018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显式授权模型自主决策的领域，鼓励创造力。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6486227" y="283428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1"/>
          <p:cNvSpPr/>
          <p:nvPr/>
        </p:nvSpPr>
        <p:spPr>
          <a:xfrm>
            <a:off x="6625828" y="2770882"/>
            <a:ext cx="6995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配色方案选择</a:t>
            </a:r>
            <a:endParaRPr lang="en-US" sz="900" dirty="0"/>
          </a:p>
        </p:txBody>
      </p:sp>
      <p:sp>
        <p:nvSpPr>
          <p:cNvPr id="51" name="Text 42"/>
          <p:cNvSpPr/>
          <p:nvPr/>
        </p:nvSpPr>
        <p:spPr>
          <a:xfrm>
            <a:off x="6486227" y="305767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3"/>
          <p:cNvSpPr/>
          <p:nvPr/>
        </p:nvSpPr>
        <p:spPr>
          <a:xfrm>
            <a:off x="6625828" y="2994273"/>
            <a:ext cx="6995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装饰元素设计</a:t>
            </a:r>
            <a:endParaRPr lang="en-US" sz="900" dirty="0"/>
          </a:p>
        </p:txBody>
      </p:sp>
      <p:sp>
        <p:nvSpPr>
          <p:cNvPr id="53" name="Text 44"/>
          <p:cNvSpPr/>
          <p:nvPr/>
        </p:nvSpPr>
        <p:spPr>
          <a:xfrm>
            <a:off x="6486227" y="3281065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6625828" y="3217664"/>
            <a:ext cx="8161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版式的具体实现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507950" y="4235946"/>
            <a:ext cx="8128099" cy="653653"/>
          </a:xfrm>
          <a:prstGeom prst="roundRect">
            <a:avLst>
              <a:gd name="adj" fmla="val 1165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7"/>
          <p:cNvSpPr/>
          <p:nvPr/>
        </p:nvSpPr>
        <p:spPr>
          <a:xfrm>
            <a:off x="720626" y="4372421"/>
            <a:ext cx="785680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B4D8">
                    <a:alpha val="88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模型要义：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>
                    <a:alpha val="88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三种信号在权重层级上互不混淆 — CONSTRAINT 是底线，ASPIRATION 是方向，FREEDOM 是空间。模型可以明确区分"必须"、"应该"和"可以"。</a:t>
            </a:r>
            <a:endParaRPr lang="en-US" sz="1000" dirty="0"/>
          </a:p>
        </p:txBody>
      </p:sp>
      <p:sp>
        <p:nvSpPr>
          <p:cNvPr id="57" name="Text 48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9"/>
          <p:cNvSpPr/>
          <p:nvPr/>
        </p:nvSpPr>
        <p:spPr>
          <a:xfrm>
            <a:off x="8661350" y="4911775"/>
            <a:ext cx="1036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3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_v3_workspace/assets/circle_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99" y="-507950"/>
            <a:ext cx="1777901" cy="1777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986" y="4090285"/>
            <a:ext cx="341180" cy="341180"/>
          </a:xfrm>
          <a:prstGeom prst="rect">
            <a:avLst/>
          </a:prstGeom>
          <a:noFill/>
          <a:ln w="19050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07950" y="381000"/>
            <a:ext cx="15544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总结与展望</a:t>
            </a:r>
            <a:endParaRPr lang="en-US" sz="2400" dirty="0"/>
          </a:p>
        </p:txBody>
      </p:sp>
      <p:pic>
        <p:nvPicPr>
          <p:cNvPr id="5" name="Image 1" descr="/private/tmp/ppt_v3_workspace/assets/lin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796826"/>
            <a:ext cx="1524000" cy="38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1088827"/>
            <a:ext cx="7620000" cy="1320701"/>
          </a:xfrm>
          <a:prstGeom prst="roundRect">
            <a:avLst>
              <a:gd name="adj" fmla="val 769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785813" y="1088827"/>
            <a:ext cx="0" cy="1320701"/>
          </a:xfrm>
          <a:prstGeom prst="line">
            <a:avLst/>
          </a:prstGeom>
          <a:noFill/>
          <a:ln w="47625">
            <a:solidFill>
              <a:srgbClr val="00B4D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63526" y="1596777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00B4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571476" y="1291977"/>
            <a:ext cx="66877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 优化不是格式之争，是信号分类问题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571476" y="1539627"/>
            <a:ext cx="6687756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 Markdown 到 YAML、从散文到检查清单，过去的优化聚焦于"如何写"。但真正的瓶颈在于模型无法区分不同性质的指导信号 — 硬约束、软目标、和自由空间被混为一体。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62000" y="2587228"/>
            <a:ext cx="7620000" cy="1320701"/>
          </a:xfrm>
          <a:prstGeom prst="roundRect">
            <a:avLst>
              <a:gd name="adj" fmla="val 769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5813" y="2587228"/>
            <a:ext cx="0" cy="1320701"/>
          </a:xfrm>
          <a:prstGeom prst="line">
            <a:avLst/>
          </a:prstGeom>
          <a:noFill/>
          <a:ln w="47625">
            <a:solidFill>
              <a:srgbClr val="F4A26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63526" y="3095179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4A2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571476" y="2790379"/>
            <a:ext cx="66877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约束和激励是两种不同的指导信号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571476" y="3038029"/>
            <a:ext cx="6687756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盲测证明：CONSTRAINT 确保精确度，ASPIRATION 激发创造力，FREEDOM 授权自主性。三者缺一不可，混为一体则效果递减。分层信号架构是让 AI Agent 同时做到"准确"和"出色"的关键。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62000" y="4453086"/>
            <a:ext cx="7620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46355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"The next frontier of AI guidance is not more instructions, but better signal architecture."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661350" y="4911775"/>
            <a:ext cx="1036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3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 的下一代指导范式</dc:title>
  <dc:subject>PptxGenJS Presentation</dc:subject>
  <dc:creator>Agent Skill Research</dc:creator>
  <cp:lastModifiedBy>Agent Skill Research</cp:lastModifiedBy>
  <cp:revision>1</cp:revision>
  <dcterms:created xsi:type="dcterms:W3CDTF">2026-04-04T10:07:12Z</dcterms:created>
  <dcterms:modified xsi:type="dcterms:W3CDTF">2026-04-04T10:07:12Z</dcterms:modified>
</cp:coreProperties>
</file>