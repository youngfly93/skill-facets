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381000"/>
            <a:ext cx="76200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private/tmp/ppt_v3_isolated/assets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50" y="1309836"/>
            <a:ext cx="634901" cy="634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64050" y="2135237"/>
            <a:ext cx="1015901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425546" y="2414439"/>
            <a:ext cx="62927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Agent Skill 的下一代指导范式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510037" y="3004989"/>
            <a:ext cx="41239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E9C46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Markdown 渐进式披露到三信号架构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22242" y="3624114"/>
            <a:ext cx="6995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2026年4月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80316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问题背景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34901" y="844451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 Skill 系统已成为 AI 工具间的通用协议，但在实际使用中暴露出结构性缺陷。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4901" y="1425476"/>
            <a:ext cx="4039642" cy="1047452"/>
          </a:xfrm>
          <a:prstGeom prst="roundRect">
            <a:avLst>
              <a:gd name="adj" fmla="val 7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425476"/>
            <a:ext cx="0" cy="104745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676" y="1603177"/>
            <a:ext cx="36574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A9D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85676" y="1825377"/>
            <a:ext cx="36574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 + YAML frontmatter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定义 Skill 的元数据与指令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2625328"/>
            <a:ext cx="4039642" cy="1047452"/>
          </a:xfrm>
          <a:prstGeom prst="roundRect">
            <a:avLst>
              <a:gd name="adj" fmla="val 7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713" y="2625328"/>
            <a:ext cx="0" cy="104745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5676" y="2803029"/>
            <a:ext cx="36574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A9D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THREE-LEVEL LOADING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5676" y="3025229"/>
            <a:ext cx="36574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三级加载机制：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Catalog → Instructions → Resources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，渐进式披露信息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3825180"/>
            <a:ext cx="4039642" cy="1047452"/>
          </a:xfrm>
          <a:prstGeom prst="roundRect">
            <a:avLst>
              <a:gd name="adj" fmla="val 72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58713" y="3825180"/>
            <a:ext cx="0" cy="104745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676" y="4002881"/>
            <a:ext cx="36574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2A9D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ADOPTION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5676" y="4225082"/>
            <a:ext cx="365743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已被 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30+ AI 工具</a:t>
            </a:r>
            <a:pPr algn="l" indent="0" marL="0">
              <a:lnSpc>
                <a:spcPts val="165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采纳为开放标准，形成事实上的行业规范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82344" y="1425476"/>
            <a:ext cx="3326755" cy="1355527"/>
          </a:xfrm>
          <a:prstGeom prst="roundRect">
            <a:avLst>
              <a:gd name="adj" fmla="val 5621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06157" y="1425476"/>
            <a:ext cx="0" cy="1355527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3120" y="1603177"/>
            <a:ext cx="29302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E76F5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33120" y="1888927"/>
            <a:ext cx="29302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触发不确定性：语义匹配不可靠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33120" y="2127052"/>
            <a:ext cx="29302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缺乏负面约束：无法表达"不要做什么"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33120" y="2365177"/>
            <a:ext cx="29302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工具/知识混淆：两类 Skill 用同一格式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28600"/>
            <a:ext cx="80316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当前架构的三个瓶颈</a:t>
            </a:r>
            <a:endParaRPr lang="en-US" sz="2200" dirty="0"/>
          </a:p>
        </p:txBody>
      </p:sp>
      <p:pic>
        <p:nvPicPr>
          <p:cNvPr id="3" name="Image 0" descr="/private/tmp/ppt_v3_isolated/assets/num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51" y="895201"/>
            <a:ext cx="381000" cy="381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9802" y="742801"/>
            <a:ext cx="7239298" cy="1040011"/>
          </a:xfrm>
          <a:prstGeom prst="roundRect">
            <a:avLst>
              <a:gd name="adj" fmla="val 73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1269802" y="761851"/>
            <a:ext cx="7239298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47502" y="907852"/>
            <a:ext cx="70215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触发不确定性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447502" y="1098352"/>
            <a:ext cx="702157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触发依赖 250 字符 description 的语义判断，模型对同一 Skill 的触发率在不同上下文中波动巨大，非确定性行为导致用户体验不可预测。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447502" y="1486942"/>
            <a:ext cx="702157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7180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Semantic matching on short descriptions is inherently non-deterministic.</a:t>
            </a:r>
            <a:endParaRPr lang="en-US" sz="950" dirty="0"/>
          </a:p>
        </p:txBody>
      </p:sp>
      <p:pic>
        <p:nvPicPr>
          <p:cNvPr id="9" name="Image 1" descr="/private/tmp/ppt_v3_isolated/assets/num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51" y="2011412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9802" y="1859012"/>
            <a:ext cx="7239298" cy="871091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1269802" y="1878062"/>
            <a:ext cx="7239298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447502" y="2024062"/>
            <a:ext cx="70215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缺乏类型系统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447502" y="2214563"/>
            <a:ext cx="702157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body 是纯散文式 Markdown，没有参数类型、必填/选填标记、取值范围等结构化约束，模型只能"猜测"正确行为。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447502" y="2434233"/>
            <a:ext cx="702157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7180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Pure prose body lacks parameter schemas and type constraints.</a:t>
            </a:r>
            <a:endParaRPr lang="en-US" sz="950" dirty="0"/>
          </a:p>
        </p:txBody>
      </p:sp>
      <p:pic>
        <p:nvPicPr>
          <p:cNvPr id="15" name="Image 2" descr="/private/tmp/ppt_v3_isolated/assets/num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851" y="2958703"/>
            <a:ext cx="381000" cy="381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9802" y="2806303"/>
            <a:ext cx="7239298" cy="871091"/>
          </a:xfrm>
          <a:prstGeom prst="roundRect">
            <a:avLst>
              <a:gd name="adj" fmla="val 87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1269802" y="2825353"/>
            <a:ext cx="7239298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447502" y="2971354"/>
            <a:ext cx="70215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工具/知识混淆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447502" y="3161854"/>
            <a:ext cx="702157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工具型 Skill（执行操作）和知识型 Skill（提供信息）使用完全相同的格式，模型无法区分"做什么"和"知道什么"。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1447502" y="3381524"/>
            <a:ext cx="7021574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Bef>
                <a:spcPts val="400"/>
              </a:spcBef>
              <a:buNone/>
            </a:pPr>
            <a:r>
              <a:rPr lang="en-US" sz="950" dirty="0">
                <a:solidFill>
                  <a:srgbClr val="7180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skills and knowledge skills share the same format indiscriminately.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34901" y="4656683"/>
            <a:ext cx="7874198" cy="359866"/>
          </a:xfrm>
          <a:prstGeom prst="roundRect">
            <a:avLst>
              <a:gd name="adj" fmla="val 14116"/>
            </a:avLst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7"/>
          <p:cNvSpPr/>
          <p:nvPr/>
        </p:nvSpPr>
        <p:spPr>
          <a:xfrm>
            <a:off x="658713" y="4656683"/>
            <a:ext cx="0" cy="359866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60227" y="4758184"/>
            <a:ext cx="7620595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结论：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这些瓶颈并非实现层面的 bug，而是 Markdown 作为指导格式的结构性局限。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80316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架构</a:t>
            </a:r>
            <a:endParaRPr lang="en-US" sz="2200" dirty="0"/>
          </a:p>
        </p:txBody>
      </p:sp>
      <p:pic>
        <p:nvPicPr>
          <p:cNvPr id="3" name="Image 0" descr="/private/tmp/ppt_v3_isolated/assets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01" y="1326952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9802" y="1374577"/>
            <a:ext cx="1034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Tool Facet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63501" y="1784152"/>
            <a:ext cx="32272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确定性操作路径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3501" y="2003227"/>
            <a:ext cx="322721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通过 JSON Schema 定义参数类型和约束，配合脚本实现确定性执行，走 tool use 调用路径。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3501" y="2485430"/>
            <a:ext cx="32272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 Schema + script execution via tool use protocol.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63501" y="2758380"/>
            <a:ext cx="943868" cy="212378"/>
          </a:xfrm>
          <a:prstGeom prst="roundRect">
            <a:avLst>
              <a:gd name="adj" fmla="val 17940"/>
            </a:avLst>
          </a:prstGeom>
          <a:solidFill>
            <a:srgbClr val="E6F7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65002" y="2783681"/>
            <a:ext cx="755684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2A9D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JSON Schema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896219" y="2758380"/>
            <a:ext cx="634752" cy="212378"/>
          </a:xfrm>
          <a:prstGeom prst="roundRect">
            <a:avLst>
              <a:gd name="adj" fmla="val 17940"/>
            </a:avLst>
          </a:prstGeom>
          <a:solidFill>
            <a:srgbClr val="E6F7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997720" y="2783681"/>
            <a:ext cx="44038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2A9D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脚本执行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619821" y="2758380"/>
            <a:ext cx="526852" cy="212378"/>
          </a:xfrm>
          <a:prstGeom prst="roundRect">
            <a:avLst>
              <a:gd name="adj" fmla="val 17940"/>
            </a:avLst>
          </a:prstGeom>
          <a:solidFill>
            <a:srgbClr val="E6F7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721322" y="2783681"/>
            <a:ext cx="33032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2A9D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确定性</a:t>
            </a:r>
            <a:endParaRPr lang="en-US" sz="850" dirty="0"/>
          </a:p>
        </p:txBody>
      </p:sp>
      <p:pic>
        <p:nvPicPr>
          <p:cNvPr id="14" name="Image 1" descr="/private/tmp/ppt_v3_isolated/assets/arrow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50" y="2678162"/>
            <a:ext cx="253901" cy="253901"/>
          </a:xfrm>
          <a:prstGeom prst="rect">
            <a:avLst/>
          </a:prstGeom>
        </p:spPr>
      </p:pic>
      <p:pic>
        <p:nvPicPr>
          <p:cNvPr id="15" name="Image 2" descr="/private/tmp/ppt_v3_isolated/assets/icon_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711" y="1326952"/>
            <a:ext cx="304800" cy="304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23012" y="1374577"/>
            <a:ext cx="13597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Prompt Facet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116711" y="1784152"/>
            <a:ext cx="32270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柔性行为指导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116711" y="2003227"/>
            <a:ext cx="3227064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保持 Markdown 自然语言的灵活性，用于传达设计意图、美学偏好和行为期望等无法结构化的指导。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116711" y="2485430"/>
            <a:ext cx="32270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Markdown-based guidance for design intent and aesthetics.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116711" y="2758380"/>
            <a:ext cx="762744" cy="212378"/>
          </a:xfrm>
          <a:prstGeom prst="roundRect">
            <a:avLst>
              <a:gd name="adj" fmla="val 17940"/>
            </a:avLst>
          </a:prstGeom>
          <a:solidFill>
            <a:srgbClr val="FFF8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5218212" y="2783681"/>
            <a:ext cx="57093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8860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Markdown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5968305" y="2758380"/>
            <a:ext cx="634752" cy="212378"/>
          </a:xfrm>
          <a:prstGeom prst="roundRect">
            <a:avLst>
              <a:gd name="adj" fmla="val 17940"/>
            </a:avLst>
          </a:prstGeom>
          <a:solidFill>
            <a:srgbClr val="FFF8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6069806" y="2783681"/>
            <a:ext cx="44038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8860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自然语言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691908" y="2758380"/>
            <a:ext cx="526852" cy="212378"/>
          </a:xfrm>
          <a:prstGeom prst="roundRect">
            <a:avLst>
              <a:gd name="adj" fmla="val 17940"/>
            </a:avLst>
          </a:prstGeom>
          <a:solidFill>
            <a:srgbClr val="FFF8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793409" y="2783681"/>
            <a:ext cx="33032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B8860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灵活性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34901" y="4575274"/>
            <a:ext cx="7874198" cy="377726"/>
          </a:xfrm>
          <a:prstGeom prst="roundRect">
            <a:avLst>
              <a:gd name="adj" fmla="val 13449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63372" y="4702225"/>
            <a:ext cx="76172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C46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两种 Facet 各司其职：Tool Facet 保证正确性，Prompt Facet 保留创造力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80316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盲测实验设计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34901" y="844451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 deliver skill 为实验对象，三个版本在相同任务下的表现对比：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4901" y="1171426"/>
            <a:ext cx="2540050" cy="3013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190476"/>
            <a:ext cx="2540050" cy="0"/>
          </a:xfrm>
          <a:prstGeom prst="line">
            <a:avLst/>
          </a:prstGeom>
          <a:noFill/>
          <a:ln w="38100">
            <a:solidFill>
              <a:srgbClr val="7180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602" y="1361926"/>
            <a:ext cx="2228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7180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602" y="1622227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原版 77 行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2602" y="1883718"/>
            <a:ext cx="222834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原始 Markdown 指令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12602" y="2103388"/>
            <a:ext cx="222834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无结构化约束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12602" y="2323058"/>
            <a:ext cx="222834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依赖模型自由发挥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01901" y="1171426"/>
            <a:ext cx="2540198" cy="3013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301901" y="1190476"/>
            <a:ext cx="2540198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9602" y="1361926"/>
            <a:ext cx="22284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A9D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9602" y="1622227"/>
            <a:ext cx="22284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优化 Markdown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9602" y="1883718"/>
            <a:ext cx="222849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重写指令措辞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9602" y="2103388"/>
            <a:ext cx="222849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增加具体约束描述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9602" y="2323058"/>
            <a:ext cx="222849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仍为纯文本格式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69050" y="1171426"/>
            <a:ext cx="2540050" cy="301347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969050" y="1190476"/>
            <a:ext cx="2540050" cy="0"/>
          </a:xfrm>
          <a:prstGeom prst="line">
            <a:avLst/>
          </a:prstGeom>
          <a:noFill/>
          <a:ln w="38100">
            <a:solidFill>
              <a:srgbClr val="E9C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6750" y="1361926"/>
            <a:ext cx="22283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46750" y="1622227"/>
            <a:ext cx="22283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800"/>
              </a:spcAft>
              <a:buNone/>
            </a:pPr>
            <a:r>
              <a:rPr lang="en-US" sz="900" dirty="0">
                <a:solidFill>
                  <a:srgbClr val="718096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双 Facet + 脚本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46750" y="1883718"/>
            <a:ext cx="222834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Tool Facet 确定性执行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46750" y="2103388"/>
            <a:ext cx="222834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Prompt Facet 行为指导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46750" y="2323058"/>
            <a:ext cx="222834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强约束标注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4901" y="4311848"/>
            <a:ext cx="7874198" cy="641152"/>
          </a:xfrm>
          <a:prstGeom prst="roundRect">
            <a:avLst>
              <a:gd name="adj" fmla="val 7923"/>
            </a:avLst>
          </a:prstGeom>
          <a:solidFill>
            <a:srgbClr val="EDF2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38051" y="4438799"/>
            <a:ext cx="7617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测量维度</a:t>
            </a:r>
            <a:endParaRPr lang="en-US" sz="1050" dirty="0"/>
          </a:p>
        </p:txBody>
      </p:sp>
      <p:pic>
        <p:nvPicPr>
          <p:cNvPr id="27" name="Image 0" descr="/private/tmp/ppt_v3_isolated/assets/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51" y="4648349"/>
            <a:ext cx="177701" cy="177701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79153" y="4675287"/>
            <a:ext cx="3690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触发率</a:t>
            </a:r>
            <a:endParaRPr lang="en-US" sz="950" dirty="0"/>
          </a:p>
        </p:txBody>
      </p:sp>
      <p:pic>
        <p:nvPicPr>
          <p:cNvPr id="29" name="Image 1" descr="/private/tmp/ppt_v3_isolated/assets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354" y="4648349"/>
            <a:ext cx="177701" cy="177701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834455" y="4675287"/>
            <a:ext cx="4919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约束遵循</a:t>
            </a:r>
            <a:endParaRPr lang="en-US" sz="950" dirty="0"/>
          </a:p>
        </p:txBody>
      </p:sp>
      <p:pic>
        <p:nvPicPr>
          <p:cNvPr id="31" name="Image 2" descr="/private/tmp/ppt_v3_isolated/assets/icon_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207" y="4648349"/>
            <a:ext cx="177701" cy="177701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2710309" y="4675287"/>
            <a:ext cx="4919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代码幻觉</a:t>
            </a:r>
            <a:endParaRPr lang="en-US" sz="950" dirty="0"/>
          </a:p>
        </p:txBody>
      </p:sp>
      <p:pic>
        <p:nvPicPr>
          <p:cNvPr id="33" name="Image 3" descr="/private/tmp/ppt_v3_isolated/assets/icon_sig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5061" y="4648349"/>
            <a:ext cx="177701" cy="17770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586163" y="4675287"/>
            <a:ext cx="4919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执行效率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80316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关键发现 — 约束的双面性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34901" y="844451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CONSTRAINT 标签同时产生了正面效果和意外副作用：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4901" y="1145977"/>
            <a:ext cx="3848249" cy="3078361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165027"/>
            <a:ext cx="3848249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pic>
        <p:nvPicPr>
          <p:cNvPr id="6" name="Image 0" descr="/private/tmp/ppt_v3_isolated/assets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51" y="1361777"/>
            <a:ext cx="253901" cy="253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3453" y="1403003"/>
            <a:ext cx="1346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正面：精确度提升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8051" y="1742629"/>
            <a:ext cx="3510787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V2 版本中，CONSTRAINT 标注的约束项达到了极高的遵循率：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38051" y="2199531"/>
            <a:ext cx="35107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颜色值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：100% 命中指定色号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8051" y="2466082"/>
            <a:ext cx="35107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字体选择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：100% 使用指定字体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8051" y="2732633"/>
            <a:ext cx="35107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格式规范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：文件命名、输出路径全部准确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38051" y="2999184"/>
            <a:ext cx="3441948" cy="418951"/>
          </a:xfrm>
          <a:prstGeom prst="roundRect">
            <a:avLst>
              <a:gd name="adj" fmla="val 12126"/>
            </a:avLst>
          </a:prstGeom>
          <a:solidFill>
            <a:srgbClr val="E6F7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65002" y="3075384"/>
            <a:ext cx="325180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B6B6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硬约束 + 明确标签 = 近乎完美的遵循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60850" y="1145977"/>
            <a:ext cx="3848249" cy="3078361"/>
          </a:xfrm>
          <a:prstGeom prst="roundRect">
            <a:avLst>
              <a:gd name="adj" fmla="val 2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4660850" y="1165027"/>
            <a:ext cx="3848249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pic>
        <p:nvPicPr>
          <p:cNvPr id="16" name="Image 1" descr="/private/tmp/ppt_v3_isolated/assets/icon_cr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001" y="1361777"/>
            <a:ext cx="253901" cy="2539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9402" y="1403003"/>
            <a:ext cx="15154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负面：创意能力压制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64001" y="1742629"/>
            <a:ext cx="35107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过度的 CONSTRAINT 信号让模型变得过于保守：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64001" y="2009180"/>
            <a:ext cx="35107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V0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：自主添加背景图、渐变色、装饰元素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64001" y="2275731"/>
            <a:ext cx="35107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V2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：只使用基础色块，视觉效果单调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64001" y="2542282"/>
            <a:ext cx="3510787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根因</a:t>
            </a:r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：模型将所有指令都当作约束处理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64001" y="2808833"/>
            <a:ext cx="3441948" cy="418951"/>
          </a:xfrm>
          <a:prstGeom prst="roundRect">
            <a:avLst>
              <a:gd name="adj" fmla="val 12126"/>
            </a:avLst>
          </a:prstGeom>
          <a:solidFill>
            <a:srgbClr val="FFF0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990951" y="2885033"/>
            <a:ext cx="3251808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4402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没有"鼓励探索"的信号，模型选择安全策略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4901" y="4325838"/>
            <a:ext cx="7874198" cy="627162"/>
          </a:xfrm>
          <a:prstGeom prst="roundRect">
            <a:avLst>
              <a:gd name="adj" fmla="val 8100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1"/>
          <p:cNvSpPr/>
          <p:nvPr/>
        </p:nvSpPr>
        <p:spPr>
          <a:xfrm>
            <a:off x="658713" y="4325838"/>
            <a:ext cx="0" cy="627162"/>
          </a:xfrm>
          <a:prstGeom prst="line">
            <a:avLst/>
          </a:prstGeom>
          <a:noFill/>
          <a:ln w="47625">
            <a:solidFill>
              <a:srgbClr val="E9C46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85676" y="4452789"/>
            <a:ext cx="756867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洞察：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约束和激励是两种本质不同的信号，不能用同一种 CONSTRAINT 语法表达。模型需要被明确告知哪些是边界，哪些是期望。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80316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三信号指导模型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34901" y="844451"/>
            <a:ext cx="8031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将指导信息分为三类独立信号，每类使用不同语法和处理逻辑：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34901" y="1120676"/>
            <a:ext cx="2523083" cy="3368873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4901" y="1144488"/>
            <a:ext cx="2523083" cy="0"/>
          </a:xfrm>
          <a:prstGeom prst="line">
            <a:avLst/>
          </a:prstGeom>
          <a:noFill/>
          <a:ln w="47625">
            <a:solidFill>
              <a:srgbClr val="E76F51"/>
            </a:solidFill>
            <a:prstDash val="solid"/>
          </a:ln>
        </p:spPr>
      </p:sp>
      <p:pic>
        <p:nvPicPr>
          <p:cNvPr id="6" name="Image 0" descr="/private/tmp/ppt_v3_isolated/assets/icon_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51" y="1346002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851" y="1374577"/>
            <a:ext cx="10365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CONSTRAINT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8051" y="1676102"/>
            <a:ext cx="215911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硬边界 — 必须遵守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8051" y="1973163"/>
            <a:ext cx="215911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定义不可违反的规则，模型必须 100% 执行。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38051" y="2361754"/>
            <a:ext cx="2159118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违反即为失败。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38051" y="2606873"/>
            <a:ext cx="2116782" cy="312390"/>
          </a:xfrm>
          <a:prstGeom prst="roundRect">
            <a:avLst>
              <a:gd name="adj" fmla="val 12196"/>
            </a:avLst>
          </a:prstGeom>
          <a:solidFill>
            <a:srgbClr val="FFF0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939552" y="2683073"/>
            <a:ext cx="19520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4402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颜色值 / 字体 / 文件格式 / 输出路径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10384" y="1120676"/>
            <a:ext cx="2523232" cy="3368873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3310384" y="1144488"/>
            <a:ext cx="2523232" cy="0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pic>
        <p:nvPicPr>
          <p:cNvPr id="15" name="Image 1" descr="/private/tmp/ppt_v3_isolated/assets/icon_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534" y="134600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18334" y="1374577"/>
            <a:ext cx="9645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ASPIRATION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13534" y="1676102"/>
            <a:ext cx="215927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软目标 — 积极追求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513534" y="1973163"/>
            <a:ext cx="2159270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定义期望达到的质量标准，鼓励模型主动探索。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513534" y="2361754"/>
            <a:ext cx="2159270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未达到不算失败，但应尽力。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513534" y="2606873"/>
            <a:ext cx="2116931" cy="312390"/>
          </a:xfrm>
          <a:prstGeom prst="roundRect">
            <a:avLst>
              <a:gd name="adj" fmla="val 12196"/>
            </a:avLst>
          </a:prstGeom>
          <a:solidFill>
            <a:srgbClr val="E6F7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3615035" y="2683073"/>
            <a:ext cx="19522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B6B6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精美 / 丰富 / 专业 / 视觉层次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986016" y="1120676"/>
            <a:ext cx="2523083" cy="3368873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5986016" y="1144488"/>
            <a:ext cx="2523083" cy="0"/>
          </a:xfrm>
          <a:prstGeom prst="line">
            <a:avLst/>
          </a:prstGeom>
          <a:noFill/>
          <a:ln w="47625">
            <a:solidFill>
              <a:srgbClr val="E9C46A"/>
            </a:solidFill>
            <a:prstDash val="solid"/>
          </a:ln>
        </p:spPr>
      </p:sp>
      <p:pic>
        <p:nvPicPr>
          <p:cNvPr id="24" name="Image 2" descr="/private/tmp/ppt_v3_isolated/assets/icon_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166" y="1346002"/>
            <a:ext cx="228600" cy="228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93966" y="1374577"/>
            <a:ext cx="79454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FREEDOM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189166" y="1676102"/>
            <a:ext cx="2159118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A202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自主空间 — 自行决定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189166" y="1973163"/>
            <a:ext cx="215911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明确授权模型自主发挥的领域，释放创造力。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189166" y="2361754"/>
            <a:ext cx="2159118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4A55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不设预期，鼓励创新。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189166" y="2606873"/>
            <a:ext cx="2116782" cy="312390"/>
          </a:xfrm>
          <a:prstGeom prst="roundRect">
            <a:avLst>
              <a:gd name="adj" fmla="val 12196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6290667" y="2683073"/>
            <a:ext cx="19520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B700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配色方案 / 装饰元素 / 版式设计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34901" y="4565749"/>
            <a:ext cx="7874198" cy="387251"/>
          </a:xfrm>
          <a:prstGeom prst="roundRect">
            <a:avLst>
              <a:gd name="adj" fmla="val 13118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763372" y="4692700"/>
            <a:ext cx="76172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C46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三种信号不能用同一种语法表达 — 每种需要独立的标记、解析和执行逻辑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4931" y="917525"/>
            <a:ext cx="72541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064050" y="1514326"/>
            <a:ext cx="1015901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private/tmp/ppt_v3_isolated/assets/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844427"/>
            <a:ext cx="279350" cy="2793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55750" y="1844427"/>
            <a:ext cx="549517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Skill 优化不是格式之争，而是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9C46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信号分类问题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— 关键在于区分不同类型的指导信息</a:t>
            </a:r>
            <a:endParaRPr lang="en-US" sz="1200" dirty="0"/>
          </a:p>
        </p:txBody>
      </p:sp>
      <p:pic>
        <p:nvPicPr>
          <p:cNvPr id="6" name="Image 1" descr="/private/tmp/ppt_v3_isolated/assets/icon_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326928"/>
            <a:ext cx="279350" cy="279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55750" y="2326928"/>
            <a:ext cx="57775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约束和激励是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9C46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两种本质不同的指导信号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— 不能混为一谈，需要独立的语法和处理逻辑</a:t>
            </a:r>
            <a:endParaRPr lang="en-US" sz="1200" dirty="0"/>
          </a:p>
        </p:txBody>
      </p:sp>
      <p:pic>
        <p:nvPicPr>
          <p:cNvPr id="8" name="Image 2" descr="/private/tmp/ppt_v3_isolated/assets/icon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017639"/>
            <a:ext cx="279350" cy="2793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955750" y="3017639"/>
            <a:ext cx="577753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下一步：用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E9C46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三信号框架重写所有 Skill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C8D6E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— 验证 CONSTRAINT / ASPIRATION / FREEDOM 的实际效果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16050" y="3759101"/>
            <a:ext cx="7111901" cy="466725"/>
          </a:xfrm>
          <a:prstGeom prst="roundRect">
            <a:avLst>
              <a:gd name="adj" fmla="val 16327"/>
            </a:avLst>
          </a:prstGeom>
          <a:solidFill>
            <a:srgbClr val="2A9D8F">
              <a:alpha val="15000"/>
            </a:srgbClr>
          </a:solidFill>
          <a:ln w="9525">
            <a:solidFill>
              <a:srgbClr val="2A9D8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213625" y="3921026"/>
            <a:ext cx="67167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9D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 "写得更好" 到 "分类得更准" — 这是 Skill 工程的范式转变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 的下一代指导范式</dc:title>
  <dc:subject>PptxGenJS Presentation</dc:subject>
  <dc:creator>Yang Fei</dc:creator>
  <cp:lastModifiedBy>Yang Fei</cp:lastModifiedBy>
  <cp:revision>1</cp:revision>
  <dcterms:created xsi:type="dcterms:W3CDTF">2026-04-04T07:50:24Z</dcterms:created>
  <dcterms:modified xsi:type="dcterms:W3CDTF">2026-04-04T07:50:24Z</dcterms:modified>
</cp:coreProperties>
</file>