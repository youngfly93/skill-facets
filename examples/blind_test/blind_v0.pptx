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5901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95567" y="1863775"/>
            <a:ext cx="595271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Agent Skill 的下一代指导范式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96871" y="2460575"/>
            <a:ext cx="3950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600" dirty="0">
                <a:solidFill>
                  <a:srgbClr val="A8C4E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Markdown 渐进式披露到三信号架构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93096" y="3051125"/>
            <a:ext cx="757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2026年4月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0" y="4610249"/>
            <a:ext cx="762000" cy="25301"/>
          </a:xfrm>
          <a:prstGeom prst="rect">
            <a:avLst/>
          </a:prstGeom>
          <a:solidFill>
            <a:srgbClr val="4A6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A6CF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4A6C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28600"/>
            <a:ext cx="874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44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问题背景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401" y="990600"/>
            <a:ext cx="5080397" cy="985391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8213" y="990600"/>
            <a:ext cx="0" cy="985391"/>
          </a:xfrm>
          <a:prstGeom prst="line">
            <a:avLst/>
          </a:prstGeom>
          <a:noFill/>
          <a:ln w="47625">
            <a:solidFill>
              <a:srgbClr val="4A6C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5176" y="1143000"/>
            <a:ext cx="47190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A6C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5176" y="1376511"/>
            <a:ext cx="4719001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 Skill 系统基于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 + YAML frontmatter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格式定义，通过纯文本描述指导 Agent 行为。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4401" y="2102941"/>
            <a:ext cx="5080397" cy="985391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8213" y="2102941"/>
            <a:ext cx="0" cy="985391"/>
          </a:xfrm>
          <a:prstGeom prst="line">
            <a:avLst/>
          </a:prstGeom>
          <a:noFill/>
          <a:ln w="47625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176" y="2255341"/>
            <a:ext cx="47190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THREE-LEVEL LOADING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5176" y="2488853"/>
            <a:ext cx="4719001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采用三级渐进式加载：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Catalog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（目录索引）→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Instructions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（指令体）→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Resources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（资源注入），按需披露信息。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4401" y="3215283"/>
            <a:ext cx="5080397" cy="985391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8213" y="3215283"/>
            <a:ext cx="0" cy="985391"/>
          </a:xfrm>
          <a:prstGeom prst="line">
            <a:avLst/>
          </a:prstGeom>
          <a:noFill/>
          <a:ln w="47625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5176" y="3367683"/>
            <a:ext cx="47190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STANDARD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176" y="3601194"/>
            <a:ext cx="4719001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该格式已被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30+ AI 工具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采纳为开放标准，包括 Claude Code、Cursor、Windsurf 等主流编码助手。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21548" y="2102197"/>
            <a:ext cx="3035201" cy="1383655"/>
          </a:xfrm>
          <a:prstGeom prst="roundRect">
            <a:avLst>
              <a:gd name="adj" fmla="val 7343"/>
            </a:avLst>
          </a:prstGeom>
          <a:solidFill>
            <a:srgbClr val="FFF3E0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43799" y="2324398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69198" y="2578298"/>
            <a:ext cx="25906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5D403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触发不确定性 — 何时激活？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69198" y="2806750"/>
            <a:ext cx="25906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5D403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缺乏负面约束 — 不该做什么？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69198" y="3035201"/>
            <a:ext cx="25906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5D403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工具/知识混淆 — 类型不分？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4401" y="4851499"/>
            <a:ext cx="84203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系统的成功普及也暴露了格式本身的局限性 — 语义触发、约束表达、类型系统三大挑战亟待解决。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A6CF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4A6C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28600"/>
            <a:ext cx="874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44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当前架构的三个瓶颈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401" y="1015901"/>
            <a:ext cx="2616250" cy="3302496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4401" y="1034951"/>
            <a:ext cx="2616250" cy="0"/>
          </a:xfrm>
          <a:prstGeom prst="line">
            <a:avLst/>
          </a:prstGeom>
          <a:noFill/>
          <a:ln w="38100">
            <a:solidFill>
              <a:srgbClr val="4A6CF7"/>
            </a:solidFill>
            <a:prstDash val="solid"/>
          </a:ln>
        </p:spPr>
      </p:sp>
      <p:pic>
        <p:nvPicPr>
          <p:cNvPr id="7" name="Image 0" descr="/private/tmp/ppt_agent_workspace/assets/num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51" y="123170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6107" y="1790402"/>
            <a:ext cx="9326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244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触发不确定性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3686" y="2044303"/>
            <a:ext cx="2357679" cy="61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触发依赖 250 字符 </a:t>
            </a:r>
            <a:pPr algn="ctr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6CF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description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的语义判断。模型对同一描述的理解因上下文而异，导致</a:t>
            </a:r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触发行为非确定性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63801" y="1015901"/>
            <a:ext cx="2616398" cy="3302496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63801" y="1034951"/>
            <a:ext cx="2616398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pic>
        <p:nvPicPr>
          <p:cNvPr id="12" name="Image 1" descr="/private/tmp/ppt_agent_workspace/assets/num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3170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83380" y="1790402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244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无类型约束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93085" y="2044303"/>
            <a:ext cx="2357830" cy="61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6CF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body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是纯散文格式，没有类型系统、没有参数 Schema、没有负面约束。模型只能靠</a:t>
            </a:r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推断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来理解边界。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083350" y="1015901"/>
            <a:ext cx="2616250" cy="3302496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083350" y="1034951"/>
            <a:ext cx="261625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pic>
        <p:nvPicPr>
          <p:cNvPr id="17" name="Image 2" descr="/private/tmp/ppt_agent_workspace/assets/num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23170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0504" y="1790402"/>
            <a:ext cx="621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244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角色混淆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12635" y="2044303"/>
            <a:ext cx="2357679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工具型 Skill（执行操作）和知识型 Skill（提供指导）用</a:t>
            </a:r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同一格式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表达。两种本质不同的 Skill 被强制统一。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44401" y="4496098"/>
            <a:ext cx="8255198" cy="444252"/>
          </a:xfrm>
          <a:prstGeom prst="roundRect">
            <a:avLst>
              <a:gd name="adj" fmla="val 17152"/>
            </a:avLst>
          </a:prstGeom>
          <a:solidFill>
            <a:srgbClr val="4A6CF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468213" y="4496098"/>
            <a:ext cx="0" cy="444252"/>
          </a:xfrm>
          <a:prstGeom prst="line">
            <a:avLst/>
          </a:prstGeom>
          <a:noFill/>
          <a:ln w="47625">
            <a:solidFill>
              <a:srgbClr val="4A6CF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5176" y="4623048"/>
            <a:ext cx="795729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这三个瓶颈的根源在于 — Markdown 格式只有一种表达通道，无法区分「必须做」「可以做」和「不能做」三种语义。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A6CF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4A6C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28600"/>
            <a:ext cx="874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44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65150"/>
            <a:ext cx="3822799" cy="711101"/>
          </a:xfrm>
          <a:prstGeom prst="rect">
            <a:avLst/>
          </a:prstGeom>
          <a:solidFill>
            <a:srgbClr val="4A6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private/tmp/ppt_agent_workspace/assets/icon_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50" y="1117550"/>
            <a:ext cx="406301" cy="4063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402" y="1211163"/>
            <a:ext cx="8617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Facet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1000" y="1676251"/>
            <a:ext cx="3822799" cy="27183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84150" y="1828651"/>
            <a:ext cx="3484828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定位：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确定性操作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4150" y="2107853"/>
            <a:ext cx="3484828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走 </a:t>
            </a:r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6CF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tool_use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路径，由模型结构化调用。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4150" y="2395389"/>
            <a:ext cx="3484828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格式：</a:t>
            </a:r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6CF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JSON Schema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定义参数 + 脚本执行逻辑。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4150" y="2682925"/>
            <a:ext cx="3484828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特征：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有明确输入/输出、可验证、可测试。触发条件为确定性匹配而非语义猜测。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4150" y="3165128"/>
            <a:ext cx="3484828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示例：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打包交付、文件传输、环境预检。</a:t>
            </a:r>
            <a:endParaRPr lang="en-US" sz="1000" dirty="0"/>
          </a:p>
        </p:txBody>
      </p:sp>
      <p:pic>
        <p:nvPicPr>
          <p:cNvPr id="14" name="Image 1" descr="/private/tmp/ppt_agent_workspace/assets/arrow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527399"/>
            <a:ext cx="304800" cy="304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40201" y="965150"/>
            <a:ext cx="3822799" cy="711101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private/tmp/ppt_agent_workspace/assets/icon_prom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351" y="1117550"/>
            <a:ext cx="406301" cy="4063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76602" y="1211163"/>
            <a:ext cx="11348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Facet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40201" y="1676251"/>
            <a:ext cx="3822799" cy="27183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143351" y="1828651"/>
            <a:ext cx="3484828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定位：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柔性行为指导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143351" y="2107853"/>
            <a:ext cx="3484828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保持 </a:t>
            </a:r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00A6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自然语言的灵活性。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143351" y="2395389"/>
            <a:ext cx="3484828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结构化 Markdown，支持 CONSTRAINT / ASPIRATION / FREEDOM 三类信号。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143351" y="2877592"/>
            <a:ext cx="3484828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特征：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指导风格、审美、决策偏好。无需严格匹配，允许模型自主发挥。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143351" y="3359795"/>
            <a:ext cx="3484828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示例：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E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配色方案、排版风格、写作语气。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81000" y="4521547"/>
            <a:ext cx="8382000" cy="444252"/>
          </a:xfrm>
          <a:prstGeom prst="roundRect">
            <a:avLst>
              <a:gd name="adj" fmla="val 17152"/>
            </a:avLst>
          </a:prstGeom>
          <a:solidFill>
            <a:srgbClr val="2A1B5E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404813" y="4521547"/>
            <a:ext cx="0" cy="444252"/>
          </a:xfrm>
          <a:prstGeom prst="line">
            <a:avLst/>
          </a:prstGeom>
          <a:noFill/>
          <a:ln w="47625">
            <a:solidFill>
              <a:srgbClr val="2A1B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1775" y="4648498"/>
            <a:ext cx="808663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A1B5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核心思想：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A1B5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将一个 Skill 拆分为「做什么」（Tool Facet）和「怎么做」（Prompt Facet），两个 Facet 互补但独立演进。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D4A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28600"/>
            <a:ext cx="874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盲测实验设计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401" y="965150"/>
            <a:ext cx="1993850" cy="685205"/>
          </a:xfrm>
          <a:prstGeom prst="roundRect">
            <a:avLst>
              <a:gd name="adj" fmla="val 11121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3451" y="965150"/>
            <a:ext cx="0" cy="685205"/>
          </a:xfrm>
          <a:prstGeom prst="line">
            <a:avLst/>
          </a:prstGeom>
          <a:noFill/>
          <a:ln w="38100">
            <a:solidFill>
              <a:srgbClr val="4A6C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01" y="1160115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实验对象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1341090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deliver skill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90651" y="965150"/>
            <a:ext cx="6108948" cy="685205"/>
          </a:xfrm>
          <a:prstGeom prst="roundRect">
            <a:avLst>
              <a:gd name="adj" fmla="val 11121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68352" y="1117402"/>
            <a:ext cx="5868617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选择 </a:t>
            </a:r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deliver skill</a:t>
            </a:r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作为实验对象 — 它同时涉及文件操作（工具性）和审美判断（指导性），是检验双 Facet 架构的理想样本。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401" y="1802755"/>
            <a:ext cx="2667000" cy="780157"/>
          </a:xfrm>
          <a:prstGeom prst="roundRect">
            <a:avLst>
              <a:gd name="adj" fmla="val 9767"/>
            </a:avLst>
          </a:prstGeom>
          <a:solidFill>
            <a:srgbClr val="4A6CF7">
              <a:alpha val="15000"/>
            </a:srgbClr>
          </a:solidFill>
          <a:ln w="9525">
            <a:solidFill>
              <a:srgbClr val="4A6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6326" y="1993702"/>
            <a:ext cx="2390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V0 - 原版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6326" y="2231827"/>
            <a:ext cx="23900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原始 77 行 Markdown，无结构化约束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38351" y="1802755"/>
            <a:ext cx="2667149" cy="780157"/>
          </a:xfrm>
          <a:prstGeom prst="roundRect">
            <a:avLst>
              <a:gd name="adj" fmla="val 9767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00276" y="1913781"/>
            <a:ext cx="23901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V1 - 优化 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0276" y="2151906"/>
            <a:ext cx="23901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优化后的 Markdown，添加 CONSTRAINT 标签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2450" y="1802755"/>
            <a:ext cx="2667149" cy="780157"/>
          </a:xfrm>
          <a:prstGeom prst="roundRect">
            <a:avLst>
              <a:gd name="adj" fmla="val 9767"/>
            </a:avLst>
          </a:prstGeom>
          <a:solidFill>
            <a:srgbClr val="00D4AA">
              <a:alpha val="15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94375" y="1993702"/>
            <a:ext cx="23901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V2 - 双 Facet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4375" y="2231827"/>
            <a:ext cx="23901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Tool Facet + Prompt Facet + 脚本分离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4401" y="2735312"/>
            <a:ext cx="8255198" cy="444252"/>
          </a:xfrm>
          <a:prstGeom prst="roundRect">
            <a:avLst>
              <a:gd name="adj" fmla="val 17152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3451" y="2735312"/>
            <a:ext cx="0" cy="44425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202" y="2862263"/>
            <a:ext cx="801893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测量维度：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触发率（是否正确激活 Skill）| 约束遵循（颜色/字体是否命中）| 代码幻觉（是否生成虚假代码）| 执行效率（Token 消耗）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4A6CF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3425"/>
            <a:ext cx="9144000" cy="0"/>
          </a:xfrm>
          <a:prstGeom prst="line">
            <a:avLst/>
          </a:prstGeom>
          <a:noFill/>
          <a:ln w="19050">
            <a:solidFill>
              <a:srgbClr val="4A6C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28600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44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关键发现 — 约束的双面性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920651"/>
            <a:ext cx="3759250" cy="1578322"/>
          </a:xfrm>
          <a:prstGeom prst="roundRect">
            <a:avLst>
              <a:gd name="adj" fmla="val 64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939701"/>
            <a:ext cx="375925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pic>
        <p:nvPicPr>
          <p:cNvPr id="7" name="Image 0" descr="/private/tmp/ppt_agent_workspace/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01" y="1111151"/>
            <a:ext cx="279350" cy="279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9552" y="1174552"/>
            <a:ext cx="1762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6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的正面效果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8701" y="1530102"/>
            <a:ext cx="3471925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添加明确约束后，模型对</a:t>
            </a:r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颜色值、字体选择</a:t>
            </a:r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的命中率达到 </a:t>
            </a:r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100%</a:t>
            </a:r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8701" y="2012305"/>
            <a:ext cx="3471925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格式规范（如文件命名、输出路径）也得到严格遵循。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1000" y="2625923"/>
            <a:ext cx="3759250" cy="1578322"/>
          </a:xfrm>
          <a:prstGeom prst="roundRect">
            <a:avLst>
              <a:gd name="adj" fmla="val 64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81000" y="2644973"/>
            <a:ext cx="375925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pic>
        <p:nvPicPr>
          <p:cNvPr id="13" name="Image 1" descr="/private/tmp/ppt_agent_workspace/assets/icon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2816423"/>
            <a:ext cx="279350" cy="279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9552" y="2879824"/>
            <a:ext cx="1762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的负面效应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8701" y="3235375"/>
            <a:ext cx="3471925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过度约束</a:t>
            </a:r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压制了模型的创意能力</a:t>
            </a:r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。当所有指令都以「必须」表达时，模型倾向于保守执行。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58701" y="3717578"/>
            <a:ext cx="3471925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设计探索空间被大幅压缩，输出趋于机械化。</a:t>
            </a:r>
            <a:endParaRPr lang="en-US" sz="1000" dirty="0"/>
          </a:p>
        </p:txBody>
      </p:sp>
      <p:pic>
        <p:nvPicPr>
          <p:cNvPr id="17" name="Image 2" descr="/private/tmp/ppt_agent_workspace/assets/icon_v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50" y="2359223"/>
            <a:ext cx="406301" cy="4063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03750" y="920651"/>
            <a:ext cx="3759250" cy="1578322"/>
          </a:xfrm>
          <a:prstGeom prst="roundRect">
            <a:avLst>
              <a:gd name="adj" fmla="val 64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181451" y="1073051"/>
            <a:ext cx="34719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6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 — 原版输出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181451" y="1358801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有背景图片、渐变效果、装饰性线条和几何元素。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181451" y="1574453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视觉丰富度高，但颜色和字体</a:t>
            </a:r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经常偏离</a:t>
            </a:r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预期。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03750" y="2625923"/>
            <a:ext cx="3759250" cy="1578322"/>
          </a:xfrm>
          <a:prstGeom prst="roundRect">
            <a:avLst>
              <a:gd name="adj" fmla="val 64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181451" y="2778323"/>
            <a:ext cx="34719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— 约束版输出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81451" y="3064073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颜色、字体 100% 命中，但只有基础色块和文本。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181451" y="3279725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缺少背景装饰、渐变和创意排版，</a:t>
            </a:r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视觉单调</a:t>
            </a:r>
            <a:pPr algn="l" indent="0" marL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。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81000" y="4331196"/>
            <a:ext cx="8382000" cy="634603"/>
          </a:xfrm>
          <a:prstGeom prst="roundRect">
            <a:avLst>
              <a:gd name="adj" fmla="val 1200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404813" y="4331196"/>
            <a:ext cx="0" cy="634603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1775" y="4458146"/>
            <a:ext cx="808663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5D403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启示：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D403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约束（CONSTRAINT）和激励（ASPIRATION）是两种本质不同的指导信号。将激励错误地编码为约束，会导致模型「只守规矩，不追求卓越」。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D4A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28600"/>
            <a:ext cx="874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三信号指导模型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39701"/>
            <a:ext cx="2692301" cy="628501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558677"/>
            <a:ext cx="2692301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pic>
        <p:nvPicPr>
          <p:cNvPr id="7" name="Image 0" descr="/private/tmp/ppt_agent_workspace/assets/icon_constra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01" y="1066651"/>
            <a:ext cx="355550" cy="355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5752" y="1149102"/>
            <a:ext cx="11227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1000" y="1568202"/>
            <a:ext cx="2692301" cy="26360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695152"/>
            <a:ext cx="2383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硬边界 — 必须遵守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8701" y="1860203"/>
            <a:ext cx="238363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定义不可违反的规则：颜色值、字体名称、文件格式、命名规范。违反即为错误。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8701" y="2536329"/>
            <a:ext cx="2383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899B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例：字体必须用黑体，颜色必须为 #4A6CF7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25701" y="939701"/>
            <a:ext cx="2692450" cy="628501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225701" y="1558677"/>
            <a:ext cx="26924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pic>
        <p:nvPicPr>
          <p:cNvPr id="15" name="Image 1" descr="/private/tmp/ppt_agent_workspace/assets/icon_aspir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402" y="1066651"/>
            <a:ext cx="355550" cy="3555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60453" y="1149102"/>
            <a:ext cx="1044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ASPIRATION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25701" y="1568202"/>
            <a:ext cx="2692450" cy="26360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403402" y="1695152"/>
            <a:ext cx="2383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软目标 — 积极追求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03402" y="1860203"/>
            <a:ext cx="23837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表达期望但不强制：追求精美、丰富、专业。模型应努力达成但可灵活实现。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403402" y="2336304"/>
            <a:ext cx="23837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899B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例：配色舒适、视觉丰富、逻辑清晰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070550" y="939701"/>
            <a:ext cx="2692450" cy="628501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6070550" y="1558677"/>
            <a:ext cx="269245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pic>
        <p:nvPicPr>
          <p:cNvPr id="23" name="Image 2" descr="/private/tmp/ppt_agent_workspace/assets/icon_freed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51" y="1066651"/>
            <a:ext cx="355550" cy="3555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05302" y="1149102"/>
            <a:ext cx="860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FREEDOM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070550" y="1568202"/>
            <a:ext cx="2692450" cy="26360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248251" y="1695152"/>
            <a:ext cx="2383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自主空间 — 自行决定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8251" y="1860203"/>
            <a:ext cx="23837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明确授权模型自主决策的领域。释放创意空间，避免不必要的保守。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248251" y="2336304"/>
            <a:ext cx="23837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899B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例：配色方案自选、装饰元素自定、版式自由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81000" y="4331196"/>
            <a:ext cx="8382000" cy="634603"/>
          </a:xfrm>
          <a:prstGeom prst="roundRect">
            <a:avLst>
              <a:gd name="adj" fmla="val 12008"/>
            </a:avLst>
          </a:prstGeom>
          <a:solidFill>
            <a:srgbClr val="4A6CF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5"/>
          <p:cNvSpPr/>
          <p:nvPr/>
        </p:nvSpPr>
        <p:spPr>
          <a:xfrm>
            <a:off x="404813" y="4331196"/>
            <a:ext cx="0" cy="634603"/>
          </a:xfrm>
          <a:prstGeom prst="line">
            <a:avLst/>
          </a:prstGeom>
          <a:noFill/>
          <a:ln w="47625">
            <a:solidFill>
              <a:srgbClr val="4A6CF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1775" y="4458146"/>
            <a:ext cx="808663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关键洞察：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这三种信号不能用同一种 Markdown 语法表达。CONSTRAINT 需要机器可验证的格式，ASPIRATION 需要激励性语言，FREEDOM 需要显式的授权声明。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28600"/>
            <a:ext cx="874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8128099" cy="704701"/>
          </a:xfrm>
          <a:prstGeom prst="roundRect">
            <a:avLst>
              <a:gd name="adj" fmla="val 144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015901"/>
            <a:ext cx="0" cy="704701"/>
          </a:xfrm>
          <a:prstGeom prst="line">
            <a:avLst/>
          </a:prstGeom>
          <a:noFill/>
          <a:ln w="47625">
            <a:solidFill>
              <a:srgbClr val="4A6C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5170" y="1168301"/>
            <a:ext cx="362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66676" y="1168301"/>
            <a:ext cx="6665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优化不是格式之争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6676" y="1377851"/>
            <a:ext cx="666544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问题的本质不在于 Markdown vs JSON，而在于如何对指导信号进行正确分类。格式只是载体，信号分类才是核心。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898303"/>
            <a:ext cx="8128099" cy="895052"/>
          </a:xfrm>
          <a:prstGeom prst="roundRect">
            <a:avLst>
              <a:gd name="adj" fmla="val 1135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1763" y="1898303"/>
            <a:ext cx="0" cy="895052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170" y="2050703"/>
            <a:ext cx="362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66676" y="2050703"/>
            <a:ext cx="7309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约束和激励是两种不同的信号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6676" y="2260253"/>
            <a:ext cx="7309548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 ASPIRATION 错误编码为 CONSTRAINT 会压制创意；将 CONSTRAINT 编码为 ASPIRATION 会导致违规。二者必须显式区分。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2971056"/>
            <a:ext cx="8128099" cy="704701"/>
          </a:xfrm>
          <a:prstGeom prst="roundRect">
            <a:avLst>
              <a:gd name="adj" fmla="val 144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1763" y="2971056"/>
            <a:ext cx="0" cy="704701"/>
          </a:xfrm>
          <a:prstGeom prst="line">
            <a:avLst/>
          </a:prstGeom>
          <a:noFill/>
          <a:ln w="47625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170" y="3123456"/>
            <a:ext cx="362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66676" y="3123456"/>
            <a:ext cx="59757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自由度需要被显式授予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6676" y="3333006"/>
            <a:ext cx="597579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模型默认保守。不主动授权 FREEDOM，模型就不会冒险创新。显式 FREEDOM 声明是释放创意的关键。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3853458"/>
            <a:ext cx="8128099" cy="717352"/>
          </a:xfrm>
          <a:prstGeom prst="roundRect">
            <a:avLst>
              <a:gd name="adj" fmla="val 14163"/>
            </a:avLst>
          </a:prstGeom>
          <a:solidFill>
            <a:srgbClr val="00D4AA">
              <a:alpha val="1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4015383"/>
            <a:ext cx="78568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4A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下一步行动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626" y="4218533"/>
            <a:ext cx="785680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用三信号框架（CONSTRAINT / ASPIRATION / FREEDOM）重写所有现有 Skill，建立信号分类的最佳实践指南。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 的下一代指导范式</dc:title>
  <dc:subject>PptxGenJS Presentation</dc:subject>
  <dc:creator>Yang Lab</dc:creator>
  <cp:lastModifiedBy>Yang Lab</cp:lastModifiedBy>
  <cp:revision>1</cp:revision>
  <dcterms:created xsi:type="dcterms:W3CDTF">2026-04-04T07:31:09Z</dcterms:created>
  <dcterms:modified xsi:type="dcterms:W3CDTF">2026-04-04T07:31:09Z</dcterms:modified>
</cp:coreProperties>
</file>