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43000" y="0"/>
            <a:ext cx="76200" cy="51435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0" y="0"/>
            <a:ext cx="1524000" cy="1524000"/>
          </a:xfrm>
          <a:prstGeom prst="rect">
            <a:avLst/>
          </a:prstGeom>
          <a:solidFill>
            <a:srgbClr val="3498D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50950" y="1015901"/>
            <a:ext cx="7254139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Agent Skill 的下一代指导范式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50950" y="1696641"/>
            <a:ext cx="72541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000"/>
              </a:spcAft>
              <a:buNone/>
            </a:pPr>
            <a:r>
              <a:rPr lang="en-US" sz="1800" dirty="0">
                <a:solidFill>
                  <a:srgbClr val="7F8C8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Markdown 渐进式披露到三信号架构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50950" y="2524571"/>
            <a:ext cx="72541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2026年4月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50950" y="2349401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50950" y="4737199"/>
            <a:ext cx="3174950" cy="2530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124358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问题背景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07450" y="228600"/>
            <a:ext cx="2331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8290509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当前主流 AI 工具的 Skill 系统基于 Markdown + YAML frontmatter 构建，已被 30+ AI 工具采纳为开放标准。其采用三级渐进式加载策略，在保持轻量的同时实现按需披露。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841450"/>
            <a:ext cx="2573834" cy="1396901"/>
          </a:xfrm>
          <a:prstGeom prst="roundRect">
            <a:avLst>
              <a:gd name="adj" fmla="val 54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6525" y="1841450"/>
            <a:ext cx="0" cy="1396901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801" y="2019151"/>
            <a:ext cx="2204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Catalog 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801" y="2247751"/>
            <a:ext cx="22045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250 字符 description 摘要，用于快速匹配和触发判断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84934" y="1841450"/>
            <a:ext cx="2573982" cy="1396901"/>
          </a:xfrm>
          <a:prstGeom prst="roundRect">
            <a:avLst>
              <a:gd name="adj" fmla="val 54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13509" y="1841450"/>
            <a:ext cx="0" cy="1396901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9785" y="2019151"/>
            <a:ext cx="2204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Instructions 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19785" y="2247751"/>
            <a:ext cx="220465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完整 Markdown body 加载，包含操作步骤与行为约束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62067" y="1841450"/>
            <a:ext cx="2573834" cy="1396901"/>
          </a:xfrm>
          <a:prstGeom prst="roundRect">
            <a:avLst>
              <a:gd name="adj" fmla="val 54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90642" y="1841450"/>
            <a:ext cx="0" cy="1396901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6918" y="2019151"/>
            <a:ext cx="2204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Resources 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6918" y="2247751"/>
            <a:ext cx="220450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外部文件按需注入，扩展上下文与工具定义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50" y="3492401"/>
            <a:ext cx="8591401" cy="812602"/>
          </a:xfrm>
          <a:prstGeom prst="roundRect">
            <a:avLst>
              <a:gd name="adj" fmla="val 6252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36525" y="3492401"/>
            <a:ext cx="0" cy="812602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700" y="3670102"/>
            <a:ext cx="8290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核心问题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3700" y="3917752"/>
            <a:ext cx="8290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触发不确定性：语义匹配不精确 | 缺乏负面约束：无法表达"不应该做什么" | 工具/知识混淆：操作型与指导型 skill 用同一格式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950" y="4978450"/>
            <a:ext cx="8127950" cy="126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27980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当前架构的三个瓶颈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07450" y="228600"/>
            <a:ext cx="2331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015901"/>
            <a:ext cx="2946202" cy="1958727"/>
          </a:xfrm>
          <a:prstGeom prst="roundRect">
            <a:avLst>
              <a:gd name="adj" fmla="val 389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044476"/>
            <a:ext cx="2946202" cy="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01" y="1276201"/>
            <a:ext cx="259069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E74C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1101" y="1850827"/>
            <a:ext cx="25906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触发不确定性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1101" y="2142827"/>
            <a:ext cx="259069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触发依赖 250 字符 description 的语义判断，模型可能误触发或漏触发，行为不可预测，无法保证一致性。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01901" y="1015901"/>
            <a:ext cx="2946202" cy="1958727"/>
          </a:xfrm>
          <a:prstGeom prst="roundRect">
            <a:avLst>
              <a:gd name="adj" fmla="val 389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01901" y="1044476"/>
            <a:ext cx="2946202" cy="0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5051" y="1276201"/>
            <a:ext cx="259069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05051" y="1850827"/>
            <a:ext cx="25906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缺乏类型系统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5051" y="2142827"/>
            <a:ext cx="259069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body 是纯散文，没有类型系统、没有参数约束。指令的执行全靠模型的理解力，无法做静态校验。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0" y="1015901"/>
            <a:ext cx="2946202" cy="1958727"/>
          </a:xfrm>
          <a:prstGeom prst="roundRect">
            <a:avLst>
              <a:gd name="adj" fmla="val 389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0" y="1044476"/>
            <a:ext cx="2946202" cy="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9150" y="1276201"/>
            <a:ext cx="259069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39C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99150" y="1850827"/>
            <a:ext cx="25906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格式一刀切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9150" y="2142827"/>
            <a:ext cx="259069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工具型 skill（需精确执行）和知识型 skill（需灵活推理）使用完全相同的格式，无法差异化指导。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3682901"/>
            <a:ext cx="8635752" cy="917972"/>
          </a:xfrm>
          <a:prstGeom prst="roundRect">
            <a:avLst>
              <a:gd name="adj" fmla="val 830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1851" y="3886051"/>
            <a:ext cx="829050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这三个瓶颈的共同根源在于：Markdown 是一种单一维度的信息载体，缺乏对信号类型的区分能力。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1851" y="4226272"/>
            <a:ext cx="8290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74C3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结论：需要一种能区分"确定性操作"与"柔性指导"的架构。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950" y="4978450"/>
            <a:ext cx="8127950" cy="126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1959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07450" y="228600"/>
            <a:ext cx="2331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939701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将每个 Skill 拆分为两个互补的 Facet，分别服务于确定性执行和柔性指导两种不同需求。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524000"/>
            <a:ext cx="4190702" cy="2793802"/>
          </a:xfrm>
          <a:prstGeom prst="roundRect">
            <a:avLst>
              <a:gd name="adj" fmla="val 363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1777901"/>
            <a:ext cx="37565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Facet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851" y="2219176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确定性操作路径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1851" y="249852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JSON Schema 定义参数与类型约束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851" y="277028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脚本化执行，结果可验证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1851" y="304204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走 tool use 标准协议路径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1851" y="331380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消除触发歧义和代码幻觉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2871" y="2412950"/>
            <a:ext cx="5181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53000" y="1524000"/>
            <a:ext cx="4266902" cy="2870002"/>
          </a:xfrm>
          <a:prstGeom prst="roundRect">
            <a:avLst>
              <a:gd name="adj" fmla="val 3540"/>
            </a:avLst>
          </a:prstGeom>
          <a:solidFill>
            <a:srgbClr val="FFFFFF"/>
          </a:solidFill>
          <a:ln w="3810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45001" y="1816001"/>
            <a:ext cx="375655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Facet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45001" y="2257276"/>
            <a:ext cx="37565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柔性行为指导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45001" y="253662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 自然语言描述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45001" y="280838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保持模型推理灵活性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45001" y="308014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支持上下文感知的创意决策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45001" y="3351907"/>
            <a:ext cx="37565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适合知识传递和风格指导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2000" y="3454301"/>
            <a:ext cx="3174950" cy="38100"/>
          </a:xfrm>
          <a:prstGeom prst="roundRect">
            <a:avLst>
              <a:gd name="adj" fmla="val 33333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06901" y="3454301"/>
            <a:ext cx="3174950" cy="38100"/>
          </a:xfrm>
          <a:prstGeom prst="roundRect">
            <a:avLst>
              <a:gd name="adj" fmla="val 3333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4063901"/>
            <a:ext cx="8642300" cy="842963"/>
          </a:xfrm>
          <a:prstGeom prst="roundRect">
            <a:avLst>
              <a:gd name="adj" fmla="val 904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36525" y="4063901"/>
            <a:ext cx="0" cy="842963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700" y="4241602"/>
            <a:ext cx="829050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的核心洞察：操作和指导是两种本质不同的信号，不应使用同一种格式承载。Tool Facet 追求精确可控，Prompt Facet 保留灵活创意。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950" y="4978450"/>
            <a:ext cx="8127950" cy="126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18653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盲测实验设计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07450" y="228600"/>
            <a:ext cx="2331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939701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 deliver skill 为实验对象，设计三组对照实验，验证不同指导方式对模型行为的影响。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96901"/>
            <a:ext cx="2895302" cy="1672977"/>
          </a:xfrm>
          <a:prstGeom prst="roundRect">
            <a:avLst>
              <a:gd name="adj" fmla="val 45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420713"/>
            <a:ext cx="2895302" cy="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51" y="162222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实验对象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651" y="1876127"/>
            <a:ext cx="25906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deliver skill — 交付打包自动化工具，原版 77 行 Markdown 指令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396901"/>
            <a:ext cx="1650950" cy="1135856"/>
          </a:xfrm>
          <a:prstGeom prst="roundRect">
            <a:avLst>
              <a:gd name="adj" fmla="val 67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29000" y="1420713"/>
            <a:ext cx="1650950" cy="0"/>
          </a:xfrm>
          <a:prstGeom prst="line">
            <a:avLst/>
          </a:prstGeom>
          <a:noFill/>
          <a:ln w="47625">
            <a:solidFill>
              <a:srgbClr val="95A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1400" y="1596926"/>
            <a:ext cx="13730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5A5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1400" y="1885801"/>
            <a:ext cx="13730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原版 Markdown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81400" y="2060377"/>
            <a:ext cx="13730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77行纯散文指令，无结构化约束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06901" y="1396901"/>
            <a:ext cx="1651099" cy="1135856"/>
          </a:xfrm>
          <a:prstGeom prst="roundRect">
            <a:avLst>
              <a:gd name="adj" fmla="val 67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206901" y="1420713"/>
            <a:ext cx="1651099" cy="0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9301" y="1596926"/>
            <a:ext cx="13732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9C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59301" y="1885801"/>
            <a:ext cx="13732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优化 Markdown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59301" y="2060377"/>
            <a:ext cx="13732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添加 CONSTRAINT 标记，强化关键约束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84950" y="1396901"/>
            <a:ext cx="1650950" cy="1135856"/>
          </a:xfrm>
          <a:prstGeom prst="roundRect">
            <a:avLst>
              <a:gd name="adj" fmla="val 670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984950" y="1420713"/>
            <a:ext cx="1650950" cy="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7350" y="1596926"/>
            <a:ext cx="13730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7350" y="1885801"/>
            <a:ext cx="13730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+ 脚本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7350" y="2060377"/>
            <a:ext cx="137307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Tool Facet 脚本化 + Prompt Facet 指导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3174950"/>
            <a:ext cx="8290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四维测量框架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950" y="3555950"/>
            <a:ext cx="1936700" cy="434876"/>
          </a:xfrm>
          <a:prstGeom prst="roundRect">
            <a:avLst>
              <a:gd name="adj" fmla="val 1752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07950" y="3971776"/>
            <a:ext cx="19367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2114" y="3682901"/>
            <a:ext cx="17683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触发率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71601" y="3555950"/>
            <a:ext cx="1936849" cy="434876"/>
          </a:xfrm>
          <a:prstGeom prst="roundRect">
            <a:avLst>
              <a:gd name="adj" fmla="val 17522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2571601" y="3971776"/>
            <a:ext cx="1936849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5763" y="3682901"/>
            <a:ext cx="1768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约束遵循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35401" y="3555950"/>
            <a:ext cx="1936700" cy="434876"/>
          </a:xfrm>
          <a:prstGeom prst="roundRect">
            <a:avLst>
              <a:gd name="adj" fmla="val 17522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35401" y="3971776"/>
            <a:ext cx="193670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9565" y="3682901"/>
            <a:ext cx="17683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代码幻觉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99052" y="3555950"/>
            <a:ext cx="1936849" cy="434876"/>
          </a:xfrm>
          <a:prstGeom prst="roundRect">
            <a:avLst>
              <a:gd name="adj" fmla="val 1752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699052" y="3971776"/>
            <a:ext cx="1936849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3214" y="3682901"/>
            <a:ext cx="1768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执行效率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950" y="4317950"/>
            <a:ext cx="8585150" cy="514350"/>
          </a:xfrm>
          <a:prstGeom prst="roundRect">
            <a:avLst>
              <a:gd name="adj" fmla="val 1481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6550" y="4470350"/>
            <a:ext cx="8290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实验采用盲测设计：评审者不知道哪个版本对应哪种架构，仅基于输出质量和行为一致性打分，消除认知偏差。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950" y="4978450"/>
            <a:ext cx="8127950" cy="126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32770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关键发现 — 约束的双面性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07450" y="228600"/>
            <a:ext cx="2331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914400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标记在提升精确度的同时，产生了意料之外的副作用：创意能力的压制。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96901"/>
            <a:ext cx="4273451" cy="2565202"/>
          </a:xfrm>
          <a:prstGeom prst="roundRect">
            <a:avLst>
              <a:gd name="adj" fmla="val 3961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6525" y="1396901"/>
            <a:ext cx="0" cy="2565202"/>
          </a:xfrm>
          <a:prstGeom prst="line">
            <a:avLst/>
          </a:prstGeom>
          <a:noFill/>
          <a:ln w="571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251" y="1600051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正面效果：精确度提升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251" y="1917502"/>
            <a:ext cx="3886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标记使颜色值、字体选择达到 100% 命中率，显著优于 V0 的自由发挥模式。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251" y="2438102"/>
            <a:ext cx="3886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格式规范、文件命名、输出结构等硬性要求的遵循率从约 60% 提升至接近 100%。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251" y="2958703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代码幻觉（编造不存在的 API）现象大幅减少。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1396901"/>
            <a:ext cx="4273451" cy="2565202"/>
          </a:xfrm>
          <a:prstGeom prst="roundRect">
            <a:avLst>
              <a:gd name="adj" fmla="val 3961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7525" y="1396901"/>
            <a:ext cx="0" cy="2565202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9251" y="1600051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负面效果：创意压制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9251" y="1917502"/>
            <a:ext cx="3886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模型将所有指令视为硬约束，失去了主动探索设计空间的意愿。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9251" y="2438102"/>
            <a:ext cx="3886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V2 输出仅包含基础色块和简单排版，缺乏装饰元素与设计层次。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9251" y="2958703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过度"听话"导致输出质量在视觉丰富度维度下降。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950" y="3810000"/>
            <a:ext cx="3962400" cy="780901"/>
          </a:xfrm>
          <a:prstGeom prst="roundRect">
            <a:avLst>
              <a:gd name="adj" fmla="val 97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7950" y="3829050"/>
            <a:ext cx="3962400" cy="0"/>
          </a:xfrm>
          <a:prstGeom prst="line">
            <a:avLst/>
          </a:prstGeom>
          <a:noFill/>
          <a:ln w="38100">
            <a:solidFill>
              <a:srgbClr val="95A5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350" y="4000500"/>
            <a:ext cx="3730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95A5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V0 (原版)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0350" y="4260800"/>
            <a:ext cx="37307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有背景图、渐变色、装饰线条、创意配色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73501" y="3810000"/>
            <a:ext cx="3962400" cy="780901"/>
          </a:xfrm>
          <a:prstGeom prst="roundRect">
            <a:avLst>
              <a:gd name="adj" fmla="val 97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73501" y="3829050"/>
            <a:ext cx="396240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5901" y="4000500"/>
            <a:ext cx="37307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V2 (强约束)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5901" y="4260800"/>
            <a:ext cx="373075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只有基础色块、标准排版、无装饰元素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950" y="4673501"/>
            <a:ext cx="82905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核心洞察：约束和激励是两种不同的信号，不能用同一种语法表达。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950" y="4978450"/>
            <a:ext cx="8127950" cy="126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21762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三信号指导模型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07450" y="228600"/>
            <a:ext cx="23317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914400"/>
            <a:ext cx="8290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基于盲测发现，提出三种不同类型的指导信号，每种信号需要独立的语法和处理机制。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71600"/>
            <a:ext cx="2590800" cy="2181820"/>
          </a:xfrm>
          <a:prstGeom prst="roundRect">
            <a:avLst>
              <a:gd name="adj" fmla="val 4657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400175"/>
            <a:ext cx="2590800" cy="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1101" y="163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5449" y="1631900"/>
            <a:ext cx="168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1101" y="2190601"/>
            <a:ext cx="22281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101" y="2479477"/>
            <a:ext cx="22281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硬边界 — 必须遵守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101" y="2733377"/>
            <a:ext cx="222818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定义不可违反的规则。颜色值、字体、文件格式等确定性要求。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1101" y="3190280"/>
            <a:ext cx="22281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7F8C8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例：字体必须使用黑体，主色 #2C3E50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76451" y="1371600"/>
            <a:ext cx="2590949" cy="2181820"/>
          </a:xfrm>
          <a:prstGeom prst="roundRect">
            <a:avLst>
              <a:gd name="adj" fmla="val 4657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76451" y="1400175"/>
            <a:ext cx="2590949" cy="0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9602" y="163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23950" y="1631900"/>
            <a:ext cx="168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9602" y="2190601"/>
            <a:ext cx="22283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ASPIRATION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9602" y="2479477"/>
            <a:ext cx="22283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980B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软目标 — 积极追求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9602" y="2733377"/>
            <a:ext cx="222834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描述期望达到的质量标准。精美、丰富、专业等方向性目标。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9602" y="3190280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7F8C8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例：视觉效果应精美专业，版式层次丰富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45101" y="1371600"/>
            <a:ext cx="2590800" cy="2181820"/>
          </a:xfrm>
          <a:prstGeom prst="roundRect">
            <a:avLst>
              <a:gd name="adj" fmla="val 4657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45101" y="1400175"/>
            <a:ext cx="2590800" cy="0"/>
          </a:xfrm>
          <a:prstGeom prst="line">
            <a:avLst/>
          </a:prstGeom>
          <a:noFill/>
          <a:ln w="5715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8251" y="1631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05504" y="1631900"/>
            <a:ext cx="1425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48251" y="2190601"/>
            <a:ext cx="22281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7AE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FREEDOM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48251" y="2479477"/>
            <a:ext cx="22281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2995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自主空间 — 自行决定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8251" y="2733377"/>
            <a:ext cx="222818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明确授权模型自主决策的领域。装饰方案、配色细节等。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48251" y="3190280"/>
            <a:ext cx="22281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7F8C8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例：可自由选择装饰元素和版式创意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950" y="4191000"/>
            <a:ext cx="8585150" cy="842963"/>
          </a:xfrm>
          <a:prstGeom prst="roundRect">
            <a:avLst>
              <a:gd name="adj" fmla="val 904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6550" y="4368701"/>
            <a:ext cx="829050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三种信号不能用同一种语法表达。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是红线，ASPIRATION 是方向，FREEDOM 是授权。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混淆三者会导致模型要么过度拘谨，要么过度自由。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950" y="4978450"/>
            <a:ext cx="8127950" cy="1265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041350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396901"/>
            <a:ext cx="2370683" cy="2217986"/>
          </a:xfrm>
          <a:prstGeom prst="roundRect">
            <a:avLst>
              <a:gd name="adj" fmla="val 4581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9650" y="1644551"/>
            <a:ext cx="191289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9650" y="2155627"/>
            <a:ext cx="19128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信号分类问题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9650" y="2473077"/>
            <a:ext cx="1912891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BDC3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优化不是格式之争，其本质是对不同类型指导信号的正确分类与差异化处理。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6584" y="1396901"/>
            <a:ext cx="2370832" cy="2217986"/>
          </a:xfrm>
          <a:prstGeom prst="roundRect">
            <a:avLst>
              <a:gd name="adj" fmla="val 4581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4234" y="1644551"/>
            <a:ext cx="191304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34234" y="2155627"/>
            <a:ext cx="19130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约束与激励分离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4234" y="2473077"/>
            <a:ext cx="1913043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BDC3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约束（不可违反）和激励（积极追求）是两种本质不同的信号，混用会导致模型行为失衡。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11317" y="1396901"/>
            <a:ext cx="2370683" cy="2217986"/>
          </a:xfrm>
          <a:prstGeom prst="roundRect">
            <a:avLst>
              <a:gd name="adj" fmla="val 4581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8967" y="1644551"/>
            <a:ext cx="191289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3498D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58967" y="2155627"/>
            <a:ext cx="19128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三信号框架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58967" y="2473077"/>
            <a:ext cx="1912891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BDC3C7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+ ASPIRATION + FREEDOM 三信号模型为 Skill 指令设计提供了完整的表达空间。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000" y="3810000"/>
            <a:ext cx="8184952" cy="942082"/>
          </a:xfrm>
          <a:prstGeom prst="roundRect">
            <a:avLst>
              <a:gd name="adj" fmla="val 8088"/>
            </a:avLst>
          </a:prstGeom>
          <a:solidFill>
            <a:srgbClr val="3498D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90575" y="3810000"/>
            <a:ext cx="0" cy="942082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3051" y="401315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498D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3051" y="4305151"/>
            <a:ext cx="77724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CF0F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用三信号框架重写所有 skill，建立信号分类标准，构建可量化评估的 Skill 质量体系。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4727674"/>
            <a:ext cx="23941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3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Skill Next-Gen Paradigm | 2026.04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 的下一代指导范式</dc:title>
  <dc:subject>PptxGenJS Presentation</dc:subject>
  <dc:creator>Yang Fei</dc:creator>
  <cp:lastModifiedBy>Yang Fei</cp:lastModifiedBy>
  <cp:revision>1</cp:revision>
  <dcterms:created xsi:type="dcterms:W3CDTF">2026-04-04T07:31:06Z</dcterms:created>
  <dcterms:modified xsi:type="dcterms:W3CDTF">2026-04-04T07:31:06Z</dcterms:modified>
</cp:coreProperties>
</file>